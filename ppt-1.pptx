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76" r:id="rId5"/>
    <p:sldId id="261" r:id="rId6"/>
    <p:sldId id="262" r:id="rId7"/>
    <p:sldId id="263" r:id="rId8"/>
    <p:sldId id="264" r:id="rId9"/>
    <p:sldId id="265" r:id="rId10"/>
    <p:sldId id="278" r:id="rId11"/>
    <p:sldId id="277" r:id="rId12"/>
    <p:sldId id="275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21E"/>
  </p:clrMru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029" autoAdjust="0"/>
    <p:restoredTop sz="94660"/>
  </p:normalViewPr>
  <p:slideViewPr>
    <p:cSldViewPr>
      <p:cViewPr varScale="1">
        <p:scale>
          <a:sx n="73" d="100"/>
          <a:sy n="73" d="100"/>
        </p:scale>
        <p:origin x="-786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78DB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0404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78DB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178DB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57"/>
            <a:ext cx="2851516" cy="685784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2E53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105" y="0"/>
                </a:moveTo>
                <a:lnTo>
                  <a:pt x="0" y="503757"/>
                </a:lnTo>
                <a:lnTo>
                  <a:pt x="1245436" y="507296"/>
                </a:lnTo>
                <a:lnTo>
                  <a:pt x="1345750" y="507296"/>
                </a:lnTo>
                <a:lnTo>
                  <a:pt x="1350387" y="502528"/>
                </a:lnTo>
                <a:lnTo>
                  <a:pt x="1351934" y="500904"/>
                </a:lnTo>
                <a:lnTo>
                  <a:pt x="1353822" y="499383"/>
                </a:lnTo>
                <a:lnTo>
                  <a:pt x="1355369" y="497759"/>
                </a:lnTo>
                <a:lnTo>
                  <a:pt x="1584337" y="268817"/>
                </a:lnTo>
                <a:lnTo>
                  <a:pt x="1589651" y="261663"/>
                </a:lnTo>
                <a:lnTo>
                  <a:pt x="1591423" y="254510"/>
                </a:lnTo>
                <a:lnTo>
                  <a:pt x="1589651" y="247357"/>
                </a:lnTo>
                <a:lnTo>
                  <a:pt x="1584337" y="240205"/>
                </a:lnTo>
                <a:lnTo>
                  <a:pt x="1355369" y="11262"/>
                </a:lnTo>
                <a:lnTo>
                  <a:pt x="1350387" y="11262"/>
                </a:lnTo>
                <a:lnTo>
                  <a:pt x="1350387" y="6493"/>
                </a:lnTo>
                <a:lnTo>
                  <a:pt x="1345750" y="6493"/>
                </a:lnTo>
                <a:lnTo>
                  <a:pt x="1340939" y="1724"/>
                </a:lnTo>
                <a:lnTo>
                  <a:pt x="1245436" y="1724"/>
                </a:lnTo>
                <a:lnTo>
                  <a:pt x="105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25761" y="808190"/>
            <a:ext cx="3140709" cy="919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178DB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291" y="2142857"/>
            <a:ext cx="10357416" cy="3450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0404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b5cfeac55938f889JmltdHM9MTcxNDA4OTYwMCZpZ3VpZD0wNGI1OWY0My1mMDQ4LTYwY" TargetMode="External"/><Relationship Id="rId2" Type="http://schemas.openxmlformats.org/officeDocument/2006/relationships/hyperlink" Target="https://www.bing.com/ck/a?!&amp;&amp;p=824d1e70362fef1fJmltdHM9MTcxNDA4OTYwMCZpZ3VpZD0wNGI1OWY+using+smart+camera&amp;u=a1aHR0cHM6Ly9pZWVleHBsb3JlLmllZWUub3JnL2RvY3VtZW50LzYwNDI5MjQv&amp;ntb=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4200" y="990600"/>
            <a:ext cx="1859914" cy="349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00" b="1" spc="35" dirty="0">
                <a:solidFill>
                  <a:schemeClr val="bg1"/>
                </a:solidFill>
                <a:latin typeface="Tahoma"/>
                <a:cs typeface="Tahoma"/>
              </a:rPr>
              <a:t>M</a:t>
            </a:r>
            <a:r>
              <a:rPr sz="2100" b="1" spc="-425" dirty="0">
                <a:solidFill>
                  <a:schemeClr val="bg1"/>
                </a:solidFill>
                <a:latin typeface="Tahoma"/>
                <a:cs typeface="Tahoma"/>
              </a:rPr>
              <a:t>I</a:t>
            </a:r>
            <a:r>
              <a:rPr sz="2100" b="1" spc="-55" dirty="0">
                <a:solidFill>
                  <a:schemeClr val="bg1"/>
                </a:solidFill>
                <a:latin typeface="Tahoma"/>
                <a:cs typeface="Tahoma"/>
              </a:rPr>
              <a:t>N</a:t>
            </a:r>
            <a:r>
              <a:rPr sz="2100" b="1" spc="-425" dirty="0">
                <a:solidFill>
                  <a:schemeClr val="bg1"/>
                </a:solidFill>
                <a:latin typeface="Tahoma"/>
                <a:cs typeface="Tahoma"/>
              </a:rPr>
              <a:t>I</a:t>
            </a:r>
            <a:r>
              <a:rPr sz="2100" b="1" spc="-15" dirty="0">
                <a:solidFill>
                  <a:schemeClr val="bg1"/>
                </a:solidFill>
                <a:latin typeface="Tahoma"/>
                <a:cs typeface="Tahoma"/>
              </a:rPr>
              <a:t>-</a:t>
            </a:r>
            <a:r>
              <a:rPr sz="2100" b="1" spc="-195" dirty="0">
                <a:solidFill>
                  <a:schemeClr val="bg1"/>
                </a:solidFill>
                <a:latin typeface="Tahoma"/>
                <a:cs typeface="Tahoma"/>
              </a:rPr>
              <a:t>P</a:t>
            </a:r>
            <a:r>
              <a:rPr sz="2100" b="1" spc="-295" dirty="0">
                <a:solidFill>
                  <a:schemeClr val="bg1"/>
                </a:solidFill>
                <a:latin typeface="Tahoma"/>
                <a:cs typeface="Tahoma"/>
              </a:rPr>
              <a:t>R</a:t>
            </a:r>
            <a:r>
              <a:rPr sz="2100" b="1" spc="160" dirty="0">
                <a:solidFill>
                  <a:schemeClr val="bg1"/>
                </a:solidFill>
                <a:latin typeface="Tahoma"/>
                <a:cs typeface="Tahoma"/>
              </a:rPr>
              <a:t>O</a:t>
            </a:r>
            <a:r>
              <a:rPr sz="2100" b="1" spc="10" dirty="0">
                <a:solidFill>
                  <a:schemeClr val="bg1"/>
                </a:solidFill>
                <a:latin typeface="Tahoma"/>
                <a:cs typeface="Tahoma"/>
              </a:rPr>
              <a:t>JE</a:t>
            </a:r>
            <a:r>
              <a:rPr sz="2100" b="1" spc="5" dirty="0">
                <a:solidFill>
                  <a:schemeClr val="bg1"/>
                </a:solidFill>
                <a:latin typeface="Tahoma"/>
                <a:cs typeface="Tahoma"/>
              </a:rPr>
              <a:t>C</a:t>
            </a:r>
            <a:r>
              <a:rPr sz="2100" b="1" spc="-395" dirty="0">
                <a:solidFill>
                  <a:schemeClr val="bg1"/>
                </a:solidFill>
                <a:latin typeface="Tahoma"/>
                <a:cs typeface="Tahoma"/>
              </a:rPr>
              <a:t>T</a:t>
            </a:r>
            <a:endParaRPr sz="21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3000" y="1600200"/>
            <a:ext cx="6248399" cy="13997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US" spc="-150" dirty="0" smtClean="0">
                <a:solidFill>
                  <a:schemeClr val="bg1"/>
                </a:solidFill>
              </a:rPr>
              <a:t>HUMAN DETECTION USING SMART CAMERA</a:t>
            </a:r>
            <a:r>
              <a:rPr lang="en-US" spc="200" dirty="0" smtClean="0">
                <a:solidFill>
                  <a:schemeClr val="bg1"/>
                </a:solidFill>
              </a:rPr>
              <a:t/>
            </a:r>
            <a:br>
              <a:rPr lang="en-US" spc="200" dirty="0" smtClean="0">
                <a:solidFill>
                  <a:schemeClr val="bg1"/>
                </a:solidFill>
              </a:rPr>
            </a:br>
            <a:r>
              <a:rPr lang="en-US" sz="2600" spc="-114" dirty="0" smtClean="0">
                <a:solidFill>
                  <a:schemeClr val="bg1"/>
                </a:solidFill>
              </a:rPr>
              <a:t>(CSE-C)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3733800"/>
            <a:ext cx="3904615" cy="269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pt-BR" b="0" dirty="0" smtClean="0"/>
              <a:t/>
            </a:r>
            <a:br>
              <a:rPr lang="pt-BR" b="0" dirty="0" smtClean="0"/>
            </a:br>
            <a:r>
              <a:rPr lang="pt-BR" sz="2400" b="1" u="sng" dirty="0">
                <a:solidFill>
                  <a:schemeClr val="bg1"/>
                </a:solidFill>
              </a:rPr>
              <a:t>BATCH NO - 5 </a:t>
            </a:r>
            <a:endParaRPr lang="pt-BR" sz="2400" b="1" dirty="0" smtClean="0">
              <a:solidFill>
                <a:schemeClr val="bg1"/>
              </a:solidFill>
            </a:endParaRPr>
          </a:p>
          <a:p>
            <a:r>
              <a:rPr lang="pt-BR" sz="2400" b="1" dirty="0">
                <a:solidFill>
                  <a:schemeClr val="bg1"/>
                </a:solidFill>
              </a:rPr>
              <a:t>22R01A05D1     A.Keerthana </a:t>
            </a:r>
            <a:endParaRPr lang="pt-BR" sz="2400" b="1" dirty="0" smtClean="0">
              <a:solidFill>
                <a:schemeClr val="bg1"/>
              </a:solidFill>
            </a:endParaRPr>
          </a:p>
          <a:p>
            <a:r>
              <a:rPr lang="pt-BR" sz="2400" b="1" dirty="0">
                <a:solidFill>
                  <a:schemeClr val="bg1"/>
                </a:solidFill>
              </a:rPr>
              <a:t>22R01A05D2     B.Harika</a:t>
            </a:r>
            <a:endParaRPr lang="pt-BR" sz="2400" b="1" dirty="0" smtClean="0">
              <a:solidFill>
                <a:schemeClr val="bg1"/>
              </a:solidFill>
            </a:endParaRPr>
          </a:p>
          <a:p>
            <a:r>
              <a:rPr lang="pt-BR" sz="2400" b="1" dirty="0">
                <a:solidFill>
                  <a:schemeClr val="bg1"/>
                </a:solidFill>
              </a:rPr>
              <a:t>22R01A05E0     E.Harsha</a:t>
            </a:r>
            <a:endParaRPr lang="pt-BR" sz="2400" b="1" dirty="0" smtClean="0">
              <a:solidFill>
                <a:schemeClr val="bg1"/>
              </a:solidFill>
            </a:endParaRPr>
          </a:p>
          <a:p>
            <a:r>
              <a:rPr lang="pt-BR" sz="2400" b="1" dirty="0">
                <a:solidFill>
                  <a:schemeClr val="bg1"/>
                </a:solidFill>
              </a:rPr>
              <a:t>22R01A05E9     K.Harika</a:t>
            </a:r>
            <a:endParaRPr lang="pt-BR" sz="2400" b="1" dirty="0" smtClean="0">
              <a:solidFill>
                <a:schemeClr val="bg1"/>
              </a:solidFill>
            </a:endParaRPr>
          </a:p>
          <a:p>
            <a:r>
              <a:rPr lang="pt-BR" b="0" dirty="0" smtClean="0"/>
              <a:t/>
            </a:r>
            <a:br>
              <a:rPr lang="pt-BR" b="0" dirty="0" smtClean="0"/>
            </a:b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4800" y="304800"/>
            <a:ext cx="11582400" cy="6096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370">
              <a:lnSpc>
                <a:spcPct val="100000"/>
              </a:lnSpc>
              <a:spcBef>
                <a:spcPts val="125"/>
              </a:spcBef>
              <a:tabLst>
                <a:tab pos="1011555" algn="l"/>
                <a:tab pos="2269490" algn="l"/>
                <a:tab pos="3662045" algn="l"/>
                <a:tab pos="4752340" algn="l"/>
                <a:tab pos="5473700" algn="l"/>
                <a:tab pos="5859145" algn="l"/>
                <a:tab pos="6261735" algn="l"/>
                <a:tab pos="6848475" algn="l"/>
                <a:tab pos="8022590" algn="l"/>
              </a:tabLst>
            </a:pP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2438400"/>
            <a:ext cx="9372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370" algn="just">
              <a:lnSpc>
                <a:spcPct val="100000"/>
              </a:lnSpc>
              <a:spcBef>
                <a:spcPts val="125"/>
              </a:spcBef>
              <a:tabLst>
                <a:tab pos="1011555" algn="l"/>
                <a:tab pos="2269490" algn="l"/>
                <a:tab pos="3662045" algn="l"/>
                <a:tab pos="4752340" algn="l"/>
                <a:tab pos="5473700" algn="l"/>
                <a:tab pos="5859145" algn="l"/>
                <a:tab pos="6261735" algn="l"/>
                <a:tab pos="6848475" algn="l"/>
                <a:tab pos="8022590" algn="l"/>
              </a:tabLst>
            </a:pP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Smart camera detects</a:t>
            </a:r>
            <a:r>
              <a:rPr lang="en-US" sz="2800" spc="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a person </a:t>
            </a:r>
            <a:r>
              <a:rPr lang="en-US" sz="2800" spc="15" dirty="0" smtClean="0">
                <a:solidFill>
                  <a:schemeClr val="bg1"/>
                </a:solidFill>
                <a:latin typeface="Arial MT"/>
                <a:cs typeface="Arial MT"/>
              </a:rPr>
              <a:t>who </a:t>
            </a:r>
            <a:r>
              <a:rPr lang="en-US" sz="2800" spc="5" dirty="0" smtClean="0">
                <a:solidFill>
                  <a:schemeClr val="bg1"/>
                </a:solidFill>
                <a:latin typeface="Arial MT"/>
                <a:cs typeface="Arial MT"/>
              </a:rPr>
              <a:t>is 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in the camera vision. </a:t>
            </a:r>
            <a:r>
              <a:rPr lang="en-US" sz="2800" spc="15" dirty="0" smtClean="0">
                <a:solidFill>
                  <a:schemeClr val="bg1"/>
                </a:solidFill>
                <a:latin typeface="Arial MT"/>
                <a:cs typeface="Arial MT"/>
              </a:rPr>
              <a:t>W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hen</a:t>
            </a:r>
            <a:r>
              <a:rPr lang="en-US" sz="2800" spc="5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2800" dirty="0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he person  </a:t>
            </a:r>
            <a:r>
              <a:rPr lang="en-US" sz="2800" spc="5" dirty="0" smtClean="0">
                <a:solidFill>
                  <a:schemeClr val="bg1"/>
                </a:solidFill>
                <a:latin typeface="Arial MT"/>
                <a:cs typeface="Arial MT"/>
              </a:rPr>
              <a:t>is  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de</a:t>
            </a:r>
            <a:r>
              <a:rPr lang="en-US" sz="2800" dirty="0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ec</a:t>
            </a:r>
            <a:r>
              <a:rPr lang="en-US" sz="2800" dirty="0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ed ,</a:t>
            </a:r>
            <a:r>
              <a:rPr lang="en-US" sz="2800" spc="5" dirty="0" smtClean="0">
                <a:solidFill>
                  <a:schemeClr val="bg1"/>
                </a:solidFill>
                <a:latin typeface="Arial MT"/>
                <a:cs typeface="Arial MT"/>
              </a:rPr>
              <a:t>it 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s</a:t>
            </a:r>
            <a:r>
              <a:rPr lang="en-US" sz="2800" dirty="0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ar</a:t>
            </a:r>
            <a:r>
              <a:rPr lang="en-US" sz="2800" dirty="0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s recording and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2800" spc="15" dirty="0" smtClean="0">
                <a:solidFill>
                  <a:schemeClr val="bg1"/>
                </a:solidFill>
                <a:latin typeface="Arial MT"/>
                <a:cs typeface="Arial MT"/>
              </a:rPr>
              <a:t>when </a:t>
            </a:r>
            <a:r>
              <a:rPr lang="en-US" sz="2800" dirty="0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he  person goes out of the camera vision </a:t>
            </a:r>
            <a:r>
              <a:rPr lang="en-US" sz="2800" spc="5" dirty="0" smtClean="0">
                <a:solidFill>
                  <a:schemeClr val="bg1"/>
                </a:solidFill>
                <a:latin typeface="Arial MT"/>
                <a:cs typeface="Arial MT"/>
              </a:rPr>
              <a:t>it 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stops recording These</a:t>
            </a:r>
            <a:r>
              <a:rPr lang="en-US" sz="2800" spc="1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z="2800" spc="10" dirty="0" smtClean="0">
                <a:solidFill>
                  <a:schemeClr val="bg1"/>
                </a:solidFill>
                <a:latin typeface="Arial MT"/>
                <a:cs typeface="Arial MT"/>
              </a:rPr>
              <a:t>recordings are stored  in local database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701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PROBLEM STATEMENT</a:t>
            </a:r>
            <a:endParaRPr lang="en-US" sz="4400" dirty="0">
              <a:solidFill>
                <a:schemeClr val="bg1"/>
              </a:solidFill>
              <a:latin typeface="Artifakt Element Black" pitchFamily="34" charset="0"/>
              <a:ea typeface="Artifakt Element Black" pitchFamily="34" charset="0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9944" y="619419"/>
            <a:ext cx="4560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26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EXISTING   SYSTEM</a:t>
            </a:r>
            <a:endParaRPr lang="en-US" sz="3600" dirty="0">
              <a:solidFill>
                <a:schemeClr val="bg1"/>
              </a:solidFill>
              <a:latin typeface="Artifakt Element Black" pitchFamily="34" charset="0"/>
              <a:ea typeface="Artifakt Element Black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2438400"/>
            <a:ext cx="5486400" cy="22544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CCTV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 records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everything</a:t>
            </a:r>
            <a:r>
              <a:rPr sz="2400" spc="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and due 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sz="2400" spc="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that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lot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of 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storage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sz="2400" spc="-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mtClean="0">
                <a:solidFill>
                  <a:schemeClr val="bg1"/>
                </a:solidFill>
                <a:latin typeface="Arial MT"/>
                <a:cs typeface="Arial MT"/>
              </a:rPr>
              <a:t>consume</a:t>
            </a: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When the crime happens we have to go throw all the footage which takes lot of time</a:t>
            </a:r>
            <a:endParaRPr sz="2400" smtClean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600" y="228600"/>
            <a:ext cx="11658600" cy="6324600"/>
          </a:xfrm>
          <a:prstGeom prst="rect">
            <a:avLst/>
          </a:prstGeom>
          <a:solidFill>
            <a:schemeClr val="tx2">
              <a:lumMod val="50000"/>
            </a:schemeClr>
          </a:solidFill>
          <a:ln cap="sq" cmpd="sng">
            <a:solidFill>
              <a:schemeClr val="tx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50800" dist="50800" dir="5400000" sx="1000" sy="1000" algn="ctr" rotWithShape="0">
              <a:srgbClr val="08121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endParaRPr lang="en-US" sz="2000" b="1" u="sng" dirty="0" smtClean="0">
              <a:solidFill>
                <a:schemeClr val="bg1"/>
              </a:solidFill>
            </a:endParaRPr>
          </a:p>
          <a:p>
            <a:pPr fontAlgn="base"/>
            <a:endParaRPr lang="en-US" sz="2000" b="1" u="sng" dirty="0" smtClean="0">
              <a:solidFill>
                <a:schemeClr val="bg1"/>
              </a:solidFill>
            </a:endParaRPr>
          </a:p>
          <a:p>
            <a:pPr algn="just" fontAlgn="base"/>
            <a:r>
              <a:rPr lang="en-US" sz="2000" b="1" dirty="0" smtClean="0">
                <a:solidFill>
                  <a:schemeClr val="bg1"/>
                </a:solidFill>
              </a:rPr>
              <a:t>       MI </a:t>
            </a:r>
            <a:r>
              <a:rPr lang="en-US" sz="2000" b="1" dirty="0" smtClean="0">
                <a:solidFill>
                  <a:schemeClr val="bg1"/>
                </a:solidFill>
              </a:rPr>
              <a:t>Smart Camera : </a:t>
            </a:r>
            <a:r>
              <a:rPr lang="en-US" sz="2000" dirty="0" smtClean="0">
                <a:solidFill>
                  <a:schemeClr val="bg1"/>
                </a:solidFill>
              </a:rPr>
              <a:t>Mi </a:t>
            </a:r>
            <a:r>
              <a:rPr lang="en-US" sz="2000" dirty="0" smtClean="0">
                <a:solidFill>
                  <a:schemeClr val="bg1"/>
                </a:solidFill>
              </a:rPr>
              <a:t>360ºcamera is a dual-axis camera ,which directly control the camera rotation from </a:t>
            </a:r>
            <a:r>
              <a:rPr lang="en-US" sz="2000" dirty="0" smtClean="0">
                <a:solidFill>
                  <a:schemeClr val="bg1"/>
                </a:solidFill>
              </a:rPr>
              <a:t>     </a:t>
            </a:r>
          </a:p>
          <a:p>
            <a:pPr algn="just" fontAlgn="base"/>
            <a:r>
              <a:rPr lang="en-US" sz="2000" dirty="0" smtClean="0">
                <a:solidFill>
                  <a:schemeClr val="bg1"/>
                </a:solidFill>
              </a:rPr>
              <a:t>       top </a:t>
            </a:r>
            <a:r>
              <a:rPr lang="en-US" sz="2000" dirty="0" smtClean="0">
                <a:solidFill>
                  <a:schemeClr val="bg1"/>
                </a:solidFill>
              </a:rPr>
              <a:t>to </a:t>
            </a:r>
            <a:r>
              <a:rPr lang="en-US" sz="2000" dirty="0" smtClean="0">
                <a:solidFill>
                  <a:schemeClr val="bg1"/>
                </a:solidFill>
              </a:rPr>
              <a:t> bottom </a:t>
            </a:r>
            <a:r>
              <a:rPr lang="en-US" sz="2000" dirty="0" smtClean="0">
                <a:solidFill>
                  <a:schemeClr val="bg1"/>
                </a:solidFill>
              </a:rPr>
              <a:t>and left to right. It also records the sounds for monitoring images and videos.</a:t>
            </a:r>
          </a:p>
          <a:p>
            <a:pPr algn="just" fontAlgn="base"/>
            <a:endParaRPr lang="en-US" sz="2000" dirty="0" smtClean="0">
              <a:solidFill>
                <a:schemeClr val="bg1"/>
              </a:solidFill>
            </a:endParaRPr>
          </a:p>
          <a:p>
            <a:pPr algn="just" fontAlgn="base"/>
            <a:r>
              <a:rPr lang="en-US" sz="2000" b="1" dirty="0" smtClean="0">
                <a:solidFill>
                  <a:schemeClr val="bg1"/>
                </a:solidFill>
              </a:rPr>
              <a:t>       Deep </a:t>
            </a:r>
            <a:r>
              <a:rPr lang="en-US" sz="2000" b="1" dirty="0" smtClean="0">
                <a:solidFill>
                  <a:schemeClr val="bg1"/>
                </a:solidFill>
              </a:rPr>
              <a:t>Sentinel :</a:t>
            </a:r>
            <a:r>
              <a:rPr lang="en-US" sz="2000" dirty="0" smtClean="0">
                <a:solidFill>
                  <a:schemeClr val="bg1"/>
                </a:solidFill>
              </a:rPr>
              <a:t>Deep Sentinel is a home security system that uses AI to detect human movement and 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just" fontAlgn="base"/>
            <a:r>
              <a:rPr lang="en-US" sz="2000" dirty="0" smtClean="0">
                <a:solidFill>
                  <a:schemeClr val="bg1"/>
                </a:solidFill>
              </a:rPr>
              <a:t>        activity</a:t>
            </a:r>
            <a:r>
              <a:rPr lang="en-US" sz="2000" dirty="0" smtClean="0">
                <a:solidFill>
                  <a:schemeClr val="bg1"/>
                </a:solidFill>
              </a:rPr>
              <a:t>. It </a:t>
            </a:r>
            <a:r>
              <a:rPr lang="en-US" sz="2000" dirty="0" smtClean="0">
                <a:solidFill>
                  <a:schemeClr val="bg1"/>
                </a:solidFill>
              </a:rPr>
              <a:t>employs </a:t>
            </a:r>
            <a:r>
              <a:rPr lang="en-US" sz="2000" dirty="0" smtClean="0">
                <a:solidFill>
                  <a:schemeClr val="bg1"/>
                </a:solidFill>
              </a:rPr>
              <a:t>a combination of cameras, computer vision algorithms,  and human intervention to 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just" fontAlgn="base"/>
            <a:r>
              <a:rPr lang="en-US" sz="2000" dirty="0" smtClean="0">
                <a:solidFill>
                  <a:schemeClr val="bg1"/>
                </a:solidFill>
              </a:rPr>
              <a:t>        identify potential </a:t>
            </a:r>
            <a:r>
              <a:rPr lang="en-US" sz="2000" dirty="0" smtClean="0">
                <a:solidFill>
                  <a:schemeClr val="bg1"/>
                </a:solidFill>
              </a:rPr>
              <a:t>threats and alert homeowners in real-time.</a:t>
            </a:r>
            <a:endParaRPr lang="en-US" sz="2000" b="1" dirty="0" smtClean="0">
              <a:solidFill>
                <a:schemeClr val="bg1"/>
              </a:solidFill>
            </a:endParaRPr>
          </a:p>
          <a:p>
            <a:pPr algn="just" fontAlgn="base"/>
            <a:r>
              <a:rPr lang="en-US" sz="2000" dirty="0" smtClean="0">
                <a:solidFill>
                  <a:schemeClr val="bg1"/>
                </a:solidFill>
              </a:rPr>
              <a:t/>
            </a:r>
            <a:br>
              <a:rPr lang="en-US" sz="2000" dirty="0" smtClean="0">
                <a:solidFill>
                  <a:schemeClr val="bg1"/>
                </a:solidFill>
              </a:rPr>
            </a:b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      </a:t>
            </a:r>
            <a:r>
              <a:rPr lang="en-US" sz="2000" b="1" dirty="0" smtClean="0">
                <a:solidFill>
                  <a:schemeClr val="bg1"/>
                </a:solidFill>
              </a:rPr>
              <a:t>Nest </a:t>
            </a:r>
            <a:r>
              <a:rPr lang="en-US" sz="2000" b="1" dirty="0" smtClean="0">
                <a:solidFill>
                  <a:schemeClr val="bg1"/>
                </a:solidFill>
              </a:rPr>
              <a:t>Cam IQ </a:t>
            </a:r>
            <a:r>
              <a:rPr lang="en-US" sz="2000" b="1" dirty="0" smtClean="0">
                <a:solidFill>
                  <a:schemeClr val="bg1"/>
                </a:solidFill>
              </a:rPr>
              <a:t>:</a:t>
            </a:r>
            <a:r>
              <a:rPr lang="en-US" sz="2000" dirty="0" smtClean="0">
                <a:solidFill>
                  <a:schemeClr val="bg1"/>
                </a:solidFill>
              </a:rPr>
              <a:t>Nest </a:t>
            </a:r>
            <a:r>
              <a:rPr lang="en-US" sz="2000" dirty="0" smtClean="0">
                <a:solidFill>
                  <a:schemeClr val="bg1"/>
                </a:solidFill>
              </a:rPr>
              <a:t>Cam IQ is a smart security camera that incorporates AI to differentiate between </a:t>
            </a:r>
            <a:r>
              <a:rPr lang="en-US" sz="2000" dirty="0" smtClean="0">
                <a:solidFill>
                  <a:schemeClr val="bg1"/>
                </a:solidFill>
              </a:rPr>
              <a:t>human</a:t>
            </a:r>
          </a:p>
          <a:p>
            <a:pPr algn="just" fontAlgn="base"/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      movements </a:t>
            </a:r>
            <a:r>
              <a:rPr lang="en-US" sz="2000" dirty="0" smtClean="0">
                <a:solidFill>
                  <a:schemeClr val="bg1"/>
                </a:solidFill>
              </a:rPr>
              <a:t>and other activities. It can send alerts specifically for human-related events, reducing </a:t>
            </a:r>
            <a:r>
              <a:rPr lang="en-US" sz="2000" dirty="0" smtClean="0">
                <a:solidFill>
                  <a:schemeClr val="bg1"/>
                </a:solidFill>
              </a:rPr>
              <a:t>false</a:t>
            </a:r>
          </a:p>
          <a:p>
            <a:pPr algn="just" fontAlgn="base"/>
            <a:r>
              <a:rPr lang="en-US" sz="2000" dirty="0" smtClean="0">
                <a:solidFill>
                  <a:schemeClr val="bg1"/>
                </a:solidFill>
              </a:rPr>
              <a:t>       alarms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  <a:endParaRPr lang="en-US" sz="2000" b="1" dirty="0" smtClean="0">
              <a:solidFill>
                <a:schemeClr val="bg1"/>
              </a:solidFill>
            </a:endParaRPr>
          </a:p>
          <a:p>
            <a:pPr algn="just"/>
            <a:endParaRPr lang="en-US" sz="2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0" y="381000"/>
            <a:ext cx="6019800" cy="762000"/>
          </a:xfrm>
          <a:prstGeom prst="rect">
            <a:avLst/>
          </a:prstGeom>
          <a:solidFill>
            <a:schemeClr val="tx2">
              <a:lumMod val="50000"/>
            </a:schemeClr>
          </a:solidFill>
          <a:ln cap="sq" cmpd="sng">
            <a:solidFill>
              <a:schemeClr val="tx2">
                <a:lumMod val="50000"/>
              </a:schemeClr>
            </a:solidFill>
          </a:ln>
          <a:effectLst>
            <a:outerShdw blurRad="50800" dist="50800" dir="5400000" sx="1000" sy="1000" algn="ctr" rotWithShape="0">
              <a:srgbClr val="08121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 smtClean="0">
                <a:solidFill>
                  <a:schemeClr val="bg1"/>
                </a:solidFill>
              </a:rPr>
              <a:t>LITERATURE SURVEY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9945" y="607907"/>
            <a:ext cx="418655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9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PROPOSED</a:t>
            </a:r>
            <a:r>
              <a:rPr lang="en-US" sz="3600" spc="-12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 </a:t>
            </a:r>
            <a:r>
              <a:rPr lang="en-US" sz="3600" spc="-16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SYSTEM</a:t>
            </a:r>
            <a:endParaRPr lang="en-US" sz="3600" dirty="0">
              <a:solidFill>
                <a:schemeClr val="bg1"/>
              </a:solidFill>
              <a:latin typeface="Artifakt Element Black" pitchFamily="34" charset="0"/>
              <a:ea typeface="Artifakt Element Black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200" y="2133600"/>
            <a:ext cx="6400800" cy="29056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Our</a:t>
            </a:r>
            <a:r>
              <a:rPr sz="2400" spc="-1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software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helps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solving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those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problems.</a:t>
            </a:r>
          </a:p>
          <a:p>
            <a:pPr marL="12700" marR="5080">
              <a:lnSpc>
                <a:spcPct val="226399"/>
              </a:lnSpc>
            </a:pP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It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only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records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when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there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any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human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25" dirty="0" smtClean="0">
                <a:solidFill>
                  <a:schemeClr val="bg1"/>
                </a:solidFill>
                <a:latin typeface="Arial MT"/>
                <a:cs typeface="Arial MT"/>
              </a:rPr>
              <a:t>activity</a:t>
            </a:r>
            <a:r>
              <a:rPr sz="2400" spc="-25" dirty="0">
                <a:solidFill>
                  <a:schemeClr val="bg1"/>
                </a:solidFill>
                <a:latin typeface="Arial MT"/>
                <a:cs typeface="Arial MT"/>
              </a:rPr>
              <a:t>. </a:t>
            </a:r>
            <a:r>
              <a:rPr sz="2400" spc="-6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It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stops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recording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after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5sec.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5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This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helps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reducing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storage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time</a:t>
            </a:r>
            <a:r>
              <a:rPr sz="2400" spc="-5" dirty="0">
                <a:solidFill>
                  <a:srgbClr val="404040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5362" name="AutoShape 2" descr="Image result for CCTV Camera Typ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364" name="AutoShape 4" descr="Image result for CCTV Camera Typ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85801" y="1447800"/>
            <a:ext cx="5943600" cy="3018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935" algn="l"/>
                <a:tab pos="1978025" algn="l"/>
                <a:tab pos="2740660" algn="l"/>
                <a:tab pos="3164205" algn="l"/>
                <a:tab pos="3672204" algn="l"/>
              </a:tabLst>
            </a:pPr>
            <a:endParaRPr lang="en-US" sz="2400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1384935" algn="l"/>
                <a:tab pos="1978025" algn="l"/>
                <a:tab pos="2740660" algn="l"/>
                <a:tab pos="3164205" algn="l"/>
                <a:tab pos="3672204" algn="l"/>
              </a:tabLst>
            </a:pP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Smart camera enable </a:t>
            </a:r>
            <a:r>
              <a:rPr lang="en-US" sz="2400" spc="-5" dirty="0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he user  </a:t>
            </a:r>
            <a:r>
              <a:rPr lang="en-US" sz="2400" spc="-5" dirty="0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o s</a:t>
            </a:r>
            <a:r>
              <a:rPr lang="en-US" sz="2400" spc="-5" dirty="0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ore </a:t>
            </a:r>
            <a:r>
              <a:rPr lang="en-US" sz="2400" spc="-5" dirty="0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he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935" algn="l"/>
                <a:tab pos="1978025" algn="l"/>
                <a:tab pos="2740660" algn="l"/>
                <a:tab pos="3164205" algn="l"/>
                <a:tab pos="3672204" algn="l"/>
              </a:tabLst>
            </a:pP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    video  </a:t>
            </a: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which </a:t>
            </a: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is </a:t>
            </a:r>
            <a:r>
              <a:rPr lang="en-US" sz="2400" spc="-20" dirty="0" smtClean="0">
                <a:solidFill>
                  <a:schemeClr val="bg1"/>
                </a:solidFill>
                <a:latin typeface="Arial MT"/>
                <a:cs typeface="Arial MT"/>
              </a:rPr>
              <a:t>necessary.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935" algn="l"/>
                <a:tab pos="1978025" algn="l"/>
                <a:tab pos="2740660" algn="l"/>
                <a:tab pos="3164205" algn="l"/>
                <a:tab pos="3672204" algn="l"/>
              </a:tabLst>
            </a:pPr>
            <a:endParaRPr lang="en-US" sz="2400" spc="-20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1384935" algn="l"/>
                <a:tab pos="1978025" algn="l"/>
                <a:tab pos="2740660" algn="l"/>
                <a:tab pos="3164205" algn="l"/>
                <a:tab pos="3672204" algn="l"/>
              </a:tabLst>
            </a:pPr>
            <a:r>
              <a:rPr sz="2400" smtClean="0">
                <a:solidFill>
                  <a:schemeClr val="bg1"/>
                </a:solidFill>
                <a:latin typeface="Arial MT"/>
                <a:cs typeface="Arial MT"/>
              </a:rPr>
              <a:t>Reduces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	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the	data	to	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be	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stored.</a:t>
            </a:r>
            <a:endParaRPr sz="2400">
              <a:solidFill>
                <a:schemeClr val="bg1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Font typeface="Arial" pitchFamily="34" charset="0"/>
              <a:buChar char="•"/>
              <a:tabLst>
                <a:tab pos="1452245" algn="l"/>
                <a:tab pos="3603625" algn="l"/>
              </a:tabLst>
            </a:pP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Helpful</a:t>
            </a:r>
            <a:r>
              <a:rPr sz="2400" spc="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in	place of 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CCTV	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400" spc="-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also</a:t>
            </a:r>
            <a:r>
              <a:rPr sz="2400" spc="-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5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2400" spc="-25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endParaRPr lang="en-US" sz="2400" spc="-25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452245" algn="l"/>
                <a:tab pos="3603625" algn="l"/>
              </a:tabLst>
            </a:pPr>
            <a:r>
              <a:rPr lang="en-US" sz="2400" spc="-25" dirty="0" smtClean="0">
                <a:solidFill>
                  <a:schemeClr val="bg1"/>
                </a:solidFill>
                <a:latin typeface="Arial MT"/>
                <a:cs typeface="Arial MT"/>
              </a:rPr>
              <a:t>   </a:t>
            </a:r>
            <a:r>
              <a:rPr sz="2400" smtClean="0">
                <a:solidFill>
                  <a:schemeClr val="bg1"/>
                </a:solidFill>
                <a:latin typeface="Arial MT"/>
                <a:cs typeface="Arial MT"/>
              </a:rPr>
              <a:t>personal</a:t>
            </a:r>
            <a:r>
              <a:rPr sz="2400" spc="-2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use</a:t>
            </a:r>
            <a:endParaRPr sz="2400">
              <a:solidFill>
                <a:schemeClr val="bg1"/>
              </a:solidFill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85350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290">
              <a:lnSpc>
                <a:spcPct val="100000"/>
              </a:lnSpc>
              <a:spcBef>
                <a:spcPts val="100"/>
              </a:spcBef>
            </a:pPr>
            <a:r>
              <a:rPr lang="en-US" sz="3600" spc="-1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SC</a:t>
            </a:r>
            <a:r>
              <a:rPr lang="en-US" sz="3600" spc="24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O</a:t>
            </a:r>
            <a:r>
              <a:rPr lang="en-US" sz="3600" spc="-35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P</a:t>
            </a:r>
            <a:r>
              <a:rPr lang="en-US" sz="3600" spc="-34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E</a:t>
            </a:r>
            <a:r>
              <a:rPr lang="en-US" sz="3600" spc="-5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  </a:t>
            </a:r>
            <a:r>
              <a:rPr lang="en-US" sz="3600" spc="19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A</a:t>
            </a:r>
            <a:r>
              <a:rPr lang="en-US" sz="3600" spc="-12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N</a:t>
            </a:r>
            <a:r>
              <a:rPr lang="en-US" sz="3600" spc="-21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D</a:t>
            </a:r>
            <a:r>
              <a:rPr lang="en-US" sz="3600" spc="-5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 </a:t>
            </a:r>
            <a:r>
              <a:rPr lang="en-US" sz="3600" spc="24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O</a:t>
            </a:r>
            <a:r>
              <a:rPr lang="en-US" sz="3600" spc="-38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B</a:t>
            </a:r>
            <a:r>
              <a:rPr lang="en-US" sz="3600" spc="-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JE</a:t>
            </a:r>
            <a:r>
              <a:rPr lang="en-US" sz="3600" spc="-1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C</a:t>
            </a:r>
            <a:r>
              <a:rPr lang="en-US" sz="3600" spc="-70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T</a:t>
            </a:r>
            <a:r>
              <a:rPr lang="en-US" sz="3600" spc="-73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I</a:t>
            </a:r>
            <a:r>
              <a:rPr lang="en-US" sz="3600" spc="9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V</a:t>
            </a:r>
            <a:r>
              <a:rPr lang="en-US" sz="3600" spc="-34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E</a:t>
            </a:r>
            <a:r>
              <a:rPr lang="en-US" sz="3600" spc="-5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  </a:t>
            </a:r>
            <a:r>
              <a:rPr lang="en-US" sz="3600" spc="24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O</a:t>
            </a:r>
            <a:r>
              <a:rPr lang="en-US" sz="3600" spc="-36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F</a:t>
            </a:r>
            <a:r>
              <a:rPr lang="en-US" sz="3600" spc="-5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  </a:t>
            </a:r>
            <a:r>
              <a:rPr lang="en-US" sz="3600" spc="-46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W</a:t>
            </a:r>
            <a:r>
              <a:rPr lang="en-US" sz="3600" spc="24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O</a:t>
            </a:r>
            <a:r>
              <a:rPr lang="en-US" sz="3600" spc="-53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R</a:t>
            </a:r>
            <a:r>
              <a:rPr lang="en-US" sz="3600" spc="-27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K</a:t>
            </a:r>
            <a:endParaRPr lang="en-US" sz="3600" dirty="0">
              <a:solidFill>
                <a:schemeClr val="bg1"/>
              </a:solidFill>
              <a:latin typeface="Artifakt Element Black" pitchFamily="34" charset="0"/>
              <a:ea typeface="Artifakt Element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8744" y="767378"/>
            <a:ext cx="6260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 smtClean="0"/>
              <a:t> </a:t>
            </a:r>
            <a:r>
              <a:rPr sz="3600" spc="-700" dirty="0">
                <a:solidFill>
                  <a:schemeClr val="bg1"/>
                </a:solidFill>
              </a:rPr>
              <a:t>T</a:t>
            </a:r>
            <a:r>
              <a:rPr sz="3600" spc="245" dirty="0">
                <a:solidFill>
                  <a:schemeClr val="bg1"/>
                </a:solidFill>
              </a:rPr>
              <a:t>OO</a:t>
            </a:r>
            <a:r>
              <a:rPr sz="3600" spc="-484" dirty="0">
                <a:solidFill>
                  <a:schemeClr val="bg1"/>
                </a:solidFill>
              </a:rPr>
              <a:t>L</a:t>
            </a:r>
            <a:r>
              <a:rPr sz="3600" spc="-409" dirty="0">
                <a:solidFill>
                  <a:schemeClr val="bg1"/>
                </a:solidFill>
              </a:rPr>
              <a:t>S</a:t>
            </a:r>
            <a:r>
              <a:rPr sz="3600" spc="-50" dirty="0">
                <a:solidFill>
                  <a:schemeClr val="bg1"/>
                </a:solidFill>
              </a:rPr>
              <a:t> </a:t>
            </a:r>
            <a:r>
              <a:rPr sz="3600" spc="190" dirty="0">
                <a:solidFill>
                  <a:schemeClr val="bg1"/>
                </a:solidFill>
              </a:rPr>
              <a:t>A</a:t>
            </a:r>
            <a:r>
              <a:rPr sz="3600" spc="-120" dirty="0">
                <a:solidFill>
                  <a:schemeClr val="bg1"/>
                </a:solidFill>
              </a:rPr>
              <a:t>N</a:t>
            </a:r>
            <a:r>
              <a:rPr sz="3600" spc="-210" dirty="0">
                <a:solidFill>
                  <a:schemeClr val="bg1"/>
                </a:solidFill>
              </a:rPr>
              <a:t>D</a:t>
            </a:r>
            <a:r>
              <a:rPr sz="3600" spc="-50" dirty="0">
                <a:solidFill>
                  <a:schemeClr val="bg1"/>
                </a:solidFill>
              </a:rPr>
              <a:t> </a:t>
            </a:r>
            <a:r>
              <a:rPr sz="3600" spc="-700" dirty="0">
                <a:solidFill>
                  <a:schemeClr val="bg1"/>
                </a:solidFill>
              </a:rPr>
              <a:t>T</a:t>
            </a:r>
            <a:r>
              <a:rPr sz="3600" spc="25" dirty="0">
                <a:solidFill>
                  <a:schemeClr val="bg1"/>
                </a:solidFill>
              </a:rPr>
              <a:t>EC</a:t>
            </a:r>
            <a:r>
              <a:rPr sz="3600" spc="-305" dirty="0">
                <a:solidFill>
                  <a:schemeClr val="bg1"/>
                </a:solidFill>
              </a:rPr>
              <a:t>H</a:t>
            </a:r>
            <a:r>
              <a:rPr sz="3600" spc="-120" dirty="0">
                <a:solidFill>
                  <a:schemeClr val="bg1"/>
                </a:solidFill>
              </a:rPr>
              <a:t>N</a:t>
            </a:r>
            <a:r>
              <a:rPr sz="3600" spc="245" dirty="0">
                <a:solidFill>
                  <a:schemeClr val="bg1"/>
                </a:solidFill>
              </a:rPr>
              <a:t>O</a:t>
            </a:r>
            <a:r>
              <a:rPr sz="3600" spc="-484" dirty="0">
                <a:solidFill>
                  <a:schemeClr val="bg1"/>
                </a:solidFill>
              </a:rPr>
              <a:t>L</a:t>
            </a:r>
            <a:r>
              <a:rPr sz="3600" spc="245" dirty="0">
                <a:solidFill>
                  <a:schemeClr val="bg1"/>
                </a:solidFill>
              </a:rPr>
              <a:t>O</a:t>
            </a:r>
            <a:r>
              <a:rPr sz="3600" spc="335" dirty="0">
                <a:solidFill>
                  <a:schemeClr val="bg1"/>
                </a:solidFill>
              </a:rPr>
              <a:t>G</a:t>
            </a:r>
            <a:r>
              <a:rPr sz="3600" spc="-185" dirty="0">
                <a:solidFill>
                  <a:schemeClr val="bg1"/>
                </a:solidFill>
              </a:rPr>
              <a:t>Y</a:t>
            </a:r>
            <a:endParaRPr sz="3600" dirty="0">
              <a:solidFill>
                <a:schemeClr val="bg1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2971800"/>
            <a:ext cx="204311" cy="2043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3886200"/>
            <a:ext cx="204311" cy="2043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4724400"/>
            <a:ext cx="204311" cy="2043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57200" y="2209800"/>
            <a:ext cx="8991600" cy="293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85" dirty="0">
                <a:solidFill>
                  <a:schemeClr val="bg1"/>
                </a:solidFill>
                <a:latin typeface="Tahoma"/>
                <a:cs typeface="Tahoma"/>
              </a:rPr>
              <a:t>6</a:t>
            </a:r>
            <a:r>
              <a:rPr sz="2400" b="1" spc="-80" dirty="0">
                <a:solidFill>
                  <a:schemeClr val="bg1"/>
                </a:solidFill>
                <a:latin typeface="Tahoma"/>
                <a:cs typeface="Tahoma"/>
              </a:rPr>
              <a:t>.</a:t>
            </a:r>
            <a:r>
              <a:rPr sz="2400" b="1" spc="-185" dirty="0">
                <a:solidFill>
                  <a:schemeClr val="bg1"/>
                </a:solidFill>
                <a:latin typeface="Tahoma"/>
                <a:cs typeface="Tahoma"/>
              </a:rPr>
              <a:t>1</a:t>
            </a:r>
            <a:r>
              <a:rPr sz="240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204" dirty="0">
                <a:solidFill>
                  <a:schemeClr val="bg1"/>
                </a:solidFill>
                <a:latin typeface="Tahoma"/>
                <a:cs typeface="Tahoma"/>
              </a:rPr>
              <a:t>H</a:t>
            </a:r>
            <a:r>
              <a:rPr sz="2400" b="1" spc="125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2400" b="1" spc="-355" dirty="0">
                <a:solidFill>
                  <a:schemeClr val="bg1"/>
                </a:solidFill>
                <a:latin typeface="Tahoma"/>
                <a:cs typeface="Tahoma"/>
              </a:rPr>
              <a:t>R</a:t>
            </a:r>
            <a:r>
              <a:rPr sz="2400" b="1" spc="-140" dirty="0">
                <a:solidFill>
                  <a:schemeClr val="bg1"/>
                </a:solidFill>
                <a:latin typeface="Tahoma"/>
                <a:cs typeface="Tahoma"/>
              </a:rPr>
              <a:t>D</a:t>
            </a:r>
            <a:r>
              <a:rPr sz="2400" b="1" spc="-310" dirty="0">
                <a:solidFill>
                  <a:schemeClr val="bg1"/>
                </a:solidFill>
                <a:latin typeface="Tahoma"/>
                <a:cs typeface="Tahoma"/>
              </a:rPr>
              <a:t>W</a:t>
            </a:r>
            <a:r>
              <a:rPr sz="2400" b="1" spc="125" dirty="0">
                <a:solidFill>
                  <a:schemeClr val="bg1"/>
                </a:solidFill>
                <a:latin typeface="Tahoma"/>
                <a:cs typeface="Tahoma"/>
              </a:rPr>
              <a:t>A</a:t>
            </a:r>
            <a:r>
              <a:rPr sz="2400" b="1" spc="-355" dirty="0">
                <a:solidFill>
                  <a:schemeClr val="bg1"/>
                </a:solidFill>
                <a:latin typeface="Tahoma"/>
                <a:cs typeface="Tahoma"/>
              </a:rPr>
              <a:t>R</a:t>
            </a:r>
            <a:r>
              <a:rPr sz="2400" b="1" spc="-229" dirty="0">
                <a:solidFill>
                  <a:schemeClr val="bg1"/>
                </a:solidFill>
                <a:latin typeface="Tahoma"/>
                <a:cs typeface="Tahoma"/>
              </a:rPr>
              <a:t>E</a:t>
            </a:r>
            <a:r>
              <a:rPr sz="2400" b="1" spc="-3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2400" b="1" spc="-355" dirty="0">
                <a:solidFill>
                  <a:schemeClr val="bg1"/>
                </a:solidFill>
                <a:latin typeface="Tahoma"/>
                <a:cs typeface="Tahoma"/>
              </a:rPr>
              <a:t>R</a:t>
            </a:r>
            <a:r>
              <a:rPr sz="2400" b="1" spc="-30" dirty="0">
                <a:solidFill>
                  <a:schemeClr val="bg1"/>
                </a:solidFill>
                <a:latin typeface="Tahoma"/>
                <a:cs typeface="Tahoma"/>
              </a:rPr>
              <a:t>E</a:t>
            </a:r>
            <a:r>
              <a:rPr sz="2400" b="1" spc="-40" dirty="0">
                <a:solidFill>
                  <a:schemeClr val="bg1"/>
                </a:solidFill>
                <a:latin typeface="Tahoma"/>
                <a:cs typeface="Tahoma"/>
              </a:rPr>
              <a:t>Q</a:t>
            </a:r>
            <a:r>
              <a:rPr sz="2400" b="1" spc="-245" dirty="0">
                <a:solidFill>
                  <a:schemeClr val="bg1"/>
                </a:solidFill>
                <a:latin typeface="Tahoma"/>
                <a:cs typeface="Tahoma"/>
              </a:rPr>
              <a:t>U</a:t>
            </a:r>
            <a:r>
              <a:rPr sz="2400" b="1" spc="-490" dirty="0">
                <a:solidFill>
                  <a:schemeClr val="bg1"/>
                </a:solidFill>
                <a:latin typeface="Tahoma"/>
                <a:cs typeface="Tahoma"/>
              </a:rPr>
              <a:t>I</a:t>
            </a:r>
            <a:r>
              <a:rPr sz="2400" b="1" spc="-355" dirty="0">
                <a:solidFill>
                  <a:schemeClr val="bg1"/>
                </a:solidFill>
                <a:latin typeface="Tahoma"/>
                <a:cs typeface="Tahoma"/>
              </a:rPr>
              <a:t>R</a:t>
            </a:r>
            <a:r>
              <a:rPr sz="2400" b="1" spc="-185" dirty="0">
                <a:solidFill>
                  <a:schemeClr val="bg1"/>
                </a:solidFill>
                <a:latin typeface="Tahoma"/>
                <a:cs typeface="Tahoma"/>
              </a:rPr>
              <a:t>ED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480820" marR="5080">
              <a:lnSpc>
                <a:spcPct val="226399"/>
              </a:lnSpc>
              <a:spcBef>
                <a:spcPts val="120"/>
              </a:spcBef>
            </a:pP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Lapto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p</a:t>
            </a:r>
            <a:r>
              <a:rPr sz="2400" spc="-1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wi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h webcam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/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>
                <a:solidFill>
                  <a:schemeClr val="bg1"/>
                </a:solidFill>
                <a:latin typeface="Arial MT"/>
                <a:cs typeface="Arial MT"/>
              </a:rPr>
              <a:t>Desk</a:t>
            </a:r>
            <a:r>
              <a:rPr sz="2400" spc="-5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sz="2400">
                <a:solidFill>
                  <a:schemeClr val="bg1"/>
                </a:solidFill>
                <a:latin typeface="Arial MT"/>
                <a:cs typeface="Arial MT"/>
              </a:rPr>
              <a:t>op </a:t>
            </a:r>
            <a:r>
              <a:rPr sz="2400" smtClean="0">
                <a:solidFill>
                  <a:schemeClr val="bg1"/>
                </a:solidFill>
                <a:latin typeface="Arial MT"/>
                <a:cs typeface="Arial MT"/>
              </a:rPr>
              <a:t>wi</a:t>
            </a:r>
            <a:r>
              <a:rPr sz="2400" spc="-5" smtClean="0">
                <a:solidFill>
                  <a:schemeClr val="bg1"/>
                </a:solidFill>
                <a:latin typeface="Arial MT"/>
                <a:cs typeface="Arial MT"/>
              </a:rPr>
              <a:t>t</a:t>
            </a:r>
            <a:r>
              <a:rPr lang="en-US" sz="2400" spc="-5" dirty="0" smtClean="0">
                <a:solidFill>
                  <a:schemeClr val="bg1"/>
                </a:solidFill>
                <a:latin typeface="Arial MT"/>
                <a:cs typeface="Arial MT"/>
              </a:rPr>
              <a:t>h </a:t>
            </a:r>
            <a:r>
              <a:rPr lang="en-US" sz="2400" dirty="0" smtClean="0">
                <a:solidFill>
                  <a:schemeClr val="bg1"/>
                </a:solidFill>
                <a:latin typeface="Arial MT"/>
                <a:cs typeface="Arial MT"/>
              </a:rPr>
              <a:t>camera</a:t>
            </a:r>
          </a:p>
          <a:p>
            <a:pPr marL="1480820" marR="5080">
              <a:lnSpc>
                <a:spcPct val="226399"/>
              </a:lnSpc>
              <a:spcBef>
                <a:spcPts val="120"/>
              </a:spcBef>
            </a:pPr>
            <a:r>
              <a:rPr sz="240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2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GB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 RAM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minimum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5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1395730">
              <a:lnSpc>
                <a:spcPct val="100000"/>
              </a:lnSpc>
            </a:pP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Storage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internal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 /</a:t>
            </a:r>
            <a:r>
              <a:rPr sz="2400" spc="-5" dirty="0">
                <a:solidFill>
                  <a:schemeClr val="bg1"/>
                </a:solidFill>
                <a:latin typeface="Arial MT"/>
                <a:cs typeface="Arial MT"/>
              </a:rPr>
              <a:t> external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800" y="762000"/>
            <a:ext cx="403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5155" algn="l"/>
              </a:tabLst>
            </a:pPr>
            <a:r>
              <a:rPr sz="2400" spc="-20" smtClean="0">
                <a:solidFill>
                  <a:schemeClr val="bg1"/>
                </a:solidFill>
                <a:latin typeface="Arial"/>
                <a:cs typeface="Arial"/>
              </a:rPr>
              <a:t>SOFTWARE</a:t>
            </a:r>
            <a:r>
              <a:rPr sz="2400" spc="-5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chemeClr val="bg1"/>
                </a:solidFill>
                <a:latin typeface="Arial"/>
                <a:cs typeface="Arial"/>
              </a:rPr>
              <a:t>REQUIRED</a:t>
            </a:r>
            <a:endParaRPr sz="24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000" y="2286000"/>
            <a:ext cx="3505200" cy="2268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chemeClr val="bg1"/>
                </a:solidFill>
                <a:latin typeface="Arial MT"/>
                <a:cs typeface="Arial MT"/>
              </a:rPr>
              <a:t>Python</a:t>
            </a:r>
            <a:r>
              <a:rPr sz="3200" spc="-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chemeClr val="bg1"/>
                </a:solidFill>
                <a:latin typeface="Arial MT"/>
                <a:cs typeface="Arial MT"/>
              </a:rPr>
              <a:t>3.10.1</a:t>
            </a:r>
            <a:endParaRPr sz="320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79200"/>
              </a:lnSpc>
            </a:pP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Visual</a:t>
            </a:r>
            <a:r>
              <a:rPr sz="3200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chemeClr val="bg1"/>
                </a:solidFill>
                <a:latin typeface="Arial MT"/>
                <a:cs typeface="Arial MT"/>
              </a:rPr>
              <a:t>studio</a:t>
            </a:r>
            <a:r>
              <a:rPr sz="3200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bg1"/>
                </a:solidFill>
                <a:latin typeface="Arial MT"/>
                <a:cs typeface="Arial MT"/>
              </a:rPr>
              <a:t>code </a:t>
            </a:r>
            <a:r>
              <a:rPr sz="3200" spc="-6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chemeClr val="bg1"/>
                </a:solidFill>
                <a:latin typeface="Arial MT"/>
                <a:cs typeface="Arial MT"/>
              </a:rPr>
              <a:t>OpenCV</a:t>
            </a:r>
            <a:r>
              <a:rPr sz="3200" spc="-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chemeClr val="bg1"/>
                </a:solidFill>
                <a:latin typeface="Arial MT"/>
                <a:cs typeface="Arial MT"/>
              </a:rPr>
              <a:t>4.5.4</a:t>
            </a:r>
            <a:endParaRPr sz="320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533400"/>
            <a:ext cx="11430000" cy="5943600"/>
          </a:xfrm>
          <a:prstGeom prst="rect">
            <a:avLst/>
          </a:prstGeom>
          <a:solidFill>
            <a:srgbClr val="08121E"/>
          </a:solidFill>
          <a:ln>
            <a:solidFill>
              <a:schemeClr val="tx2">
                <a:lumMod val="50000"/>
              </a:schemeClr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90245" algn="l"/>
                <a:tab pos="1583055" algn="l"/>
                <a:tab pos="2426970" algn="l"/>
                <a:tab pos="3799840" algn="l"/>
                <a:tab pos="4302125" algn="l"/>
                <a:tab pos="5690870" algn="l"/>
                <a:tab pos="7020559" algn="l"/>
              </a:tabLst>
            </a:pPr>
            <a:endParaRPr lang="en-US" sz="1600" spc="30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90245" algn="l"/>
                <a:tab pos="1583055" algn="l"/>
                <a:tab pos="2426970" algn="l"/>
                <a:tab pos="3799840" algn="l"/>
                <a:tab pos="4302125" algn="l"/>
                <a:tab pos="5690870" algn="l"/>
                <a:tab pos="7020559" algn="l"/>
              </a:tabLst>
            </a:pPr>
            <a:endParaRPr lang="en-US" sz="1600" spc="30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125"/>
              </a:spcBef>
              <a:tabLst>
                <a:tab pos="690245" algn="l"/>
                <a:tab pos="1583055" algn="l"/>
                <a:tab pos="2426970" algn="l"/>
                <a:tab pos="3799840" algn="l"/>
                <a:tab pos="4302125" algn="l"/>
                <a:tab pos="5690870" algn="l"/>
                <a:tab pos="7020559" algn="l"/>
              </a:tabLst>
            </a:pPr>
            <a:endParaRPr lang="en-US" sz="1600" spc="30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  <a:buFont typeface="Arial" pitchFamily="34" charset="0"/>
              <a:buChar char="•"/>
              <a:tabLst>
                <a:tab pos="690245" algn="l"/>
                <a:tab pos="1583055" algn="l"/>
                <a:tab pos="2426970" algn="l"/>
                <a:tab pos="3799840" algn="l"/>
                <a:tab pos="4302125" algn="l"/>
                <a:tab pos="5690870" algn="l"/>
                <a:tab pos="7020559" algn="l"/>
              </a:tabLst>
            </a:pPr>
            <a:endParaRPr lang="en-US" sz="1600" spc="30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  <a:buFont typeface="Arial" pitchFamily="34" charset="0"/>
              <a:buChar char="•"/>
              <a:tabLst>
                <a:tab pos="690245" algn="l"/>
                <a:tab pos="1583055" algn="l"/>
                <a:tab pos="2426970" algn="l"/>
                <a:tab pos="3799840" algn="l"/>
                <a:tab pos="4302125" algn="l"/>
                <a:tab pos="5690870" algn="l"/>
                <a:tab pos="7020559" algn="l"/>
              </a:tabLst>
            </a:pPr>
            <a:r>
              <a:rPr lang="en-US" sz="1600" spc="30" dirty="0" smtClean="0">
                <a:solidFill>
                  <a:schemeClr val="bg1"/>
                </a:solidFill>
                <a:latin typeface="Arial MT"/>
                <a:cs typeface="Arial MT"/>
              </a:rPr>
              <a:t>   </a:t>
            </a:r>
            <a:r>
              <a:rPr lang="en-US" spc="30" dirty="0" smtClean="0">
                <a:solidFill>
                  <a:schemeClr val="bg1"/>
                </a:solidFill>
                <a:latin typeface="Arial MT"/>
                <a:cs typeface="Arial MT"/>
              </a:rPr>
              <a:t>W</a:t>
            </a:r>
            <a:r>
              <a:rPr lang="en-US" spc="15" dirty="0" smtClean="0">
                <a:solidFill>
                  <a:schemeClr val="bg1"/>
                </a:solidFill>
                <a:latin typeface="Arial MT"/>
                <a:cs typeface="Arial MT"/>
              </a:rPr>
              <a:t>e </a:t>
            </a:r>
            <a:r>
              <a:rPr lang="en-US" spc="60" dirty="0" smtClean="0">
                <a:solidFill>
                  <a:schemeClr val="bg1"/>
                </a:solidFill>
                <a:latin typeface="Arial MT"/>
                <a:cs typeface="Arial MT"/>
              </a:rPr>
              <a:t>use</a:t>
            </a:r>
            <a:r>
              <a:rPr lang="en-US" spc="15" dirty="0" smtClean="0">
                <a:solidFill>
                  <a:schemeClr val="bg1"/>
                </a:solidFill>
                <a:latin typeface="Arial MT"/>
                <a:cs typeface="Arial MT"/>
              </a:rPr>
              <a:t>d  </a:t>
            </a:r>
            <a:r>
              <a:rPr lang="en-US" spc="60" dirty="0" err="1" smtClean="0">
                <a:solidFill>
                  <a:schemeClr val="bg1"/>
                </a:solidFill>
                <a:latin typeface="Arial MT"/>
                <a:cs typeface="Arial MT"/>
              </a:rPr>
              <a:t>haa</a:t>
            </a:r>
            <a:r>
              <a:rPr lang="en-US" spc="5" dirty="0" err="1" smtClean="0">
                <a:solidFill>
                  <a:schemeClr val="bg1"/>
                </a:solidFill>
                <a:latin typeface="Arial MT"/>
                <a:cs typeface="Arial MT"/>
              </a:rPr>
              <a:t>r</a:t>
            </a: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60" dirty="0" smtClean="0">
                <a:solidFill>
                  <a:schemeClr val="bg1"/>
                </a:solidFill>
                <a:latin typeface="Arial MT"/>
                <a:cs typeface="Arial MT"/>
              </a:rPr>
              <a:t>cascad</a:t>
            </a:r>
            <a:r>
              <a:rPr lang="en-US" spc="15" dirty="0" smtClean="0">
                <a:solidFill>
                  <a:schemeClr val="bg1"/>
                </a:solidFill>
                <a:latin typeface="Arial MT"/>
                <a:cs typeface="Arial MT"/>
              </a:rPr>
              <a:t>e</a:t>
            </a:r>
            <a:r>
              <a:rPr lang="en-US" spc="55" dirty="0" smtClean="0">
                <a:solidFill>
                  <a:schemeClr val="bg1"/>
                </a:solidFill>
                <a:latin typeface="Arial MT"/>
                <a:cs typeface="Arial MT"/>
              </a:rPr>
              <a:t>(</a:t>
            </a:r>
            <a:r>
              <a:rPr lang="en-US" spc="15" dirty="0" smtClean="0">
                <a:solidFill>
                  <a:schemeClr val="bg1"/>
                </a:solidFill>
                <a:latin typeface="Arial MT"/>
                <a:cs typeface="Arial MT"/>
              </a:rPr>
              <a:t>a </a:t>
            </a:r>
            <a:r>
              <a:rPr lang="en-US" spc="70" dirty="0" smtClean="0">
                <a:solidFill>
                  <a:schemeClr val="bg1"/>
                </a:solidFill>
                <a:latin typeface="Arial MT"/>
                <a:cs typeface="Arial MT"/>
              </a:rPr>
              <a:t>m</a:t>
            </a:r>
            <a:r>
              <a:rPr lang="en-US" spc="60" dirty="0" smtClean="0">
                <a:solidFill>
                  <a:schemeClr val="bg1"/>
                </a:solidFill>
                <a:latin typeface="Arial MT"/>
                <a:cs typeface="Arial MT"/>
              </a:rPr>
              <a:t>ac</a:t>
            </a:r>
            <a:r>
              <a:rPr lang="en-US" spc="55" dirty="0" smtClean="0">
                <a:solidFill>
                  <a:schemeClr val="bg1"/>
                </a:solidFill>
                <a:latin typeface="Arial MT"/>
                <a:cs typeface="Arial MT"/>
              </a:rPr>
              <a:t>hin</a:t>
            </a:r>
            <a:r>
              <a:rPr lang="en-US" spc="15" dirty="0" smtClean="0">
                <a:solidFill>
                  <a:schemeClr val="bg1"/>
                </a:solidFill>
                <a:latin typeface="Arial MT"/>
                <a:cs typeface="Arial MT"/>
              </a:rPr>
              <a:t>e </a:t>
            </a:r>
            <a:r>
              <a:rPr lang="en-US" spc="55" dirty="0" smtClean="0">
                <a:solidFill>
                  <a:schemeClr val="bg1"/>
                </a:solidFill>
                <a:latin typeface="Arial MT"/>
                <a:cs typeface="Arial MT"/>
              </a:rPr>
              <a:t>learnin</a:t>
            </a:r>
            <a:r>
              <a:rPr lang="en-US" spc="15" dirty="0" smtClean="0">
                <a:solidFill>
                  <a:schemeClr val="bg1"/>
                </a:solidFill>
                <a:latin typeface="Arial MT"/>
                <a:cs typeface="Arial MT"/>
              </a:rPr>
              <a:t>g </a:t>
            </a:r>
            <a:r>
              <a:rPr lang="en-US" spc="55" dirty="0" smtClean="0">
                <a:solidFill>
                  <a:schemeClr val="bg1"/>
                </a:solidFill>
                <a:latin typeface="Arial MT"/>
                <a:cs typeface="Arial MT"/>
              </a:rPr>
              <a:t>obje</a:t>
            </a:r>
            <a:r>
              <a:rPr lang="en-US" spc="60" dirty="0" smtClean="0">
                <a:solidFill>
                  <a:schemeClr val="bg1"/>
                </a:solidFill>
                <a:latin typeface="Arial MT"/>
                <a:cs typeface="Arial MT"/>
              </a:rPr>
              <a:t>c</a:t>
            </a: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t 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detection</a:t>
            </a: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algorithm) </a:t>
            </a: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to identify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90245" algn="l"/>
                <a:tab pos="1583055" algn="l"/>
                <a:tab pos="2426970" algn="l"/>
                <a:tab pos="3799840" algn="l"/>
                <a:tab pos="4302125" algn="l"/>
                <a:tab pos="5690870" algn="l"/>
                <a:tab pos="7020559" algn="l"/>
              </a:tabLst>
            </a:pP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      faces</a:t>
            </a: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in our</a:t>
            </a: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code.</a:t>
            </a:r>
            <a:endParaRPr lang="en-US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92900"/>
              </a:lnSpc>
              <a:spcBef>
                <a:spcPts val="969"/>
              </a:spcBef>
              <a:buFont typeface="Arial" pitchFamily="34" charset="0"/>
              <a:buChar char="•"/>
            </a:pP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   It</a:t>
            </a:r>
            <a:r>
              <a:rPr lang="en-US" spc="12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detects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faces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every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frame,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if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5" dirty="0" smtClean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face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detected</a:t>
            </a:r>
            <a:r>
              <a:rPr lang="en-US" spc="13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the </a:t>
            </a:r>
            <a:r>
              <a:rPr lang="en-US" spc="-62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video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recording</a:t>
            </a: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 starts.</a:t>
            </a:r>
            <a:endParaRPr lang="en-US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</a:pPr>
            <a:endParaRPr lang="en-US" spc="10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88900">
              <a:lnSpc>
                <a:spcPct val="100000"/>
              </a:lnSpc>
              <a:buFont typeface="Arial" pitchFamily="34" charset="0"/>
              <a:buChar char="•"/>
            </a:pP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  The</a:t>
            </a: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video recording stops </a:t>
            </a:r>
            <a:r>
              <a:rPr lang="en-US" spc="5" dirty="0" smtClean="0">
                <a:solidFill>
                  <a:schemeClr val="bg1"/>
                </a:solidFill>
                <a:latin typeface="Arial MT"/>
                <a:cs typeface="Arial MT"/>
              </a:rPr>
              <a:t>after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15" dirty="0" smtClean="0">
                <a:solidFill>
                  <a:schemeClr val="bg1"/>
                </a:solidFill>
                <a:latin typeface="Arial MT"/>
                <a:cs typeface="Arial MT"/>
              </a:rPr>
              <a:t>5</a:t>
            </a:r>
            <a:r>
              <a:rPr lang="en-US" spc="10" dirty="0" smtClean="0">
                <a:solidFill>
                  <a:schemeClr val="bg1"/>
                </a:solidFill>
                <a:latin typeface="Arial MT"/>
                <a:cs typeface="Arial MT"/>
              </a:rPr>
              <a:t> seconds of not detection.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Also</a:t>
            </a:r>
            <a:r>
              <a:rPr lang="en-US" spc="-1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identifies</a:t>
            </a:r>
            <a:r>
              <a:rPr lang="en-US" spc="-1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lang="en-US" spc="-1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person </a:t>
            </a:r>
          </a:p>
          <a:p>
            <a:pPr marL="88900">
              <a:lnSpc>
                <a:spcPct val="100000"/>
              </a:lnSpc>
            </a:pP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     with</a:t>
            </a:r>
            <a:r>
              <a:rPr lang="en-US" spc="-1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mask.</a:t>
            </a:r>
            <a:endParaRPr lang="en-US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marR="69215">
              <a:lnSpc>
                <a:spcPct val="222600"/>
              </a:lnSpc>
              <a:buFont typeface="Arial" pitchFamily="34" charset="0"/>
              <a:buChar char="•"/>
            </a:pP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     If we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show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picture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person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also it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identifies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starts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recording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. </a:t>
            </a:r>
            <a:r>
              <a:rPr lang="en-US" spc="-62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Body</a:t>
            </a:r>
            <a:r>
              <a:rPr lang="en-US" spc="-10" dirty="0" smtClean="0">
                <a:solidFill>
                  <a:schemeClr val="bg1"/>
                </a:solidFill>
                <a:latin typeface="Arial MT"/>
                <a:cs typeface="Arial MT"/>
              </a:rPr>
              <a:t>  </a:t>
            </a:r>
          </a:p>
          <a:p>
            <a:pPr marL="12700" marR="69215">
              <a:lnSpc>
                <a:spcPct val="222600"/>
              </a:lnSpc>
            </a:pPr>
            <a:r>
              <a:rPr lang="en-US" spc="-10" dirty="0" smtClean="0">
                <a:solidFill>
                  <a:schemeClr val="bg1"/>
                </a:solidFill>
                <a:latin typeface="Arial MT"/>
                <a:cs typeface="Arial MT"/>
              </a:rPr>
              <a:t>       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detections  not so accurate.</a:t>
            </a:r>
            <a:endParaRPr lang="en-US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92900"/>
              </a:lnSpc>
              <a:spcBef>
                <a:spcPts val="819"/>
              </a:spcBef>
              <a:buFont typeface="Arial" pitchFamily="34" charset="0"/>
              <a:buChar char="•"/>
            </a:pP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     Mostly cant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detect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animals ,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but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few cases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due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to eyes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it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lang="en-US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detected </a:t>
            </a:r>
            <a:r>
              <a:rPr lang="en-US" spc="-625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as</a:t>
            </a:r>
            <a:r>
              <a:rPr lang="en-US" spc="-1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lang="en-US" spc="-5" dirty="0" smtClean="0">
                <a:solidFill>
                  <a:schemeClr val="bg1"/>
                </a:solidFill>
                <a:latin typeface="Arial MT"/>
                <a:cs typeface="Arial MT"/>
              </a:rPr>
              <a:t>a human.</a:t>
            </a:r>
            <a:endParaRPr lang="en-US" dirty="0" smtClean="0">
              <a:solidFill>
                <a:schemeClr val="bg1"/>
              </a:solidFill>
              <a:latin typeface="Arial MT"/>
              <a:cs typeface="Arial MT"/>
            </a:endParaRPr>
          </a:p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667000" y="838200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pc="-465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WORKING       FRAMEWORK</a:t>
            </a:r>
            <a:endParaRPr lang="en-US" sz="3600" dirty="0">
              <a:latin typeface="Artifakt Element Black" pitchFamily="34" charset="0"/>
              <a:ea typeface="Artifakt Element Black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914400"/>
            <a:ext cx="3140709" cy="484748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REFERENCES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201400" cy="59436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hlinkClick r:id="rId2"/>
              </a:rPr>
              <a:t>https://www.bing.com/ck/a?!&amp;&amp;p=824d1e70362fef1fJmltdHM9MTcxNDA4OTYwMCZpZ3VpZD0wNGI1OWY+using+smart+camera&amp;u=a1aHR0cHM6Ly9pZWVleHBsb3JlLmllZWUub3JnL2RvY3VtZW50LzYwNDI5MjQv&amp;ntb=1</a:t>
            </a:r>
            <a:endParaRPr lang="en-US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 algn="ctr"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3048000"/>
            <a:ext cx="107442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hlinkClick r:id="rId3"/>
              </a:rPr>
              <a:t>https://www.bing.com/ck/a?!&amp;&amp;p=b5cfeac55938f889JmltdHM9MTcxNDA4  O</a:t>
            </a:r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hlinkClick r:id="rId3"/>
              </a:rPr>
              <a:t>TYwMCZ</a:t>
            </a:r>
            <a:r>
              <a:rPr lang="en-US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hlinkClick r:id="rId3"/>
              </a:rPr>
              <a:t>pZ3VpZD0wNGI1OWY0My1mMDQ4LTYwY</a:t>
            </a:r>
            <a:endParaRPr lang="en-US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7800" y="1143000"/>
            <a:ext cx="464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>
                    <a:lumMod val="95000"/>
                  </a:schemeClr>
                </a:solidFill>
                <a:latin typeface="Artifakt Element Black" pitchFamily="34" charset="0"/>
                <a:ea typeface="Artifakt Element Black" pitchFamily="34" charset="0"/>
              </a:rPr>
              <a:t>REFERENCES</a:t>
            </a:r>
            <a:endParaRPr lang="en-US" sz="4400" dirty="0">
              <a:solidFill>
                <a:schemeClr val="bg1">
                  <a:lumMod val="95000"/>
                </a:schemeClr>
              </a:solidFill>
              <a:latin typeface="Artifakt Element Black" pitchFamily="34" charset="0"/>
              <a:ea typeface="Artifakt Element Black" pitchFamily="34" charset="0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5944" y="658047"/>
            <a:ext cx="3554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 smtClean="0">
                <a:solidFill>
                  <a:schemeClr val="bg1"/>
                </a:solidFill>
                <a:latin typeface="Artifakt Element Black" pitchFamily="34" charset="0"/>
                <a:ea typeface="Artifakt Element Black" pitchFamily="34" charset="0"/>
              </a:rPr>
              <a:t>CONCLUSION</a:t>
            </a:r>
            <a:endParaRPr lang="en-US" sz="3600" dirty="0">
              <a:solidFill>
                <a:schemeClr val="bg1"/>
              </a:solidFill>
              <a:latin typeface="Artifakt Element Black" pitchFamily="34" charset="0"/>
              <a:ea typeface="Artifakt Element Black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-1447800" y="2057400"/>
            <a:ext cx="9220200" cy="31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7705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Ø"/>
            </a:pPr>
            <a:r>
              <a:rPr spc="-5" smtClean="0">
                <a:solidFill>
                  <a:schemeClr val="bg1"/>
                </a:solidFill>
              </a:rPr>
              <a:t>With </a:t>
            </a:r>
            <a:r>
              <a:rPr spc="-5" dirty="0">
                <a:solidFill>
                  <a:schemeClr val="bg1"/>
                </a:solidFill>
              </a:rPr>
              <a:t>this project, </a:t>
            </a:r>
            <a:r>
              <a:rPr dirty="0">
                <a:solidFill>
                  <a:schemeClr val="bg1"/>
                </a:solidFill>
              </a:rPr>
              <a:t>we can increase </a:t>
            </a:r>
            <a:r>
              <a:rPr spc="-5" dirty="0">
                <a:solidFill>
                  <a:schemeClr val="bg1"/>
                </a:solidFill>
              </a:rPr>
              <a:t>the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surveillance </a:t>
            </a:r>
            <a:endParaRPr lang="en-US" dirty="0" smtClean="0">
              <a:solidFill>
                <a:schemeClr val="bg1"/>
              </a:solidFill>
            </a:endParaRPr>
          </a:p>
          <a:p>
            <a:pPr marL="1957705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>
                <a:solidFill>
                  <a:schemeClr val="bg1"/>
                </a:solidFill>
              </a:rPr>
              <a:t> </a:t>
            </a:r>
            <a:r>
              <a:rPr lang="en-US" spc="-5" dirty="0" smtClean="0">
                <a:solidFill>
                  <a:schemeClr val="bg1"/>
                </a:solidFill>
              </a:rPr>
              <a:t>   </a:t>
            </a:r>
            <a:r>
              <a:rPr spc="-5" smtClean="0">
                <a:solidFill>
                  <a:schemeClr val="bg1"/>
                </a:solidFill>
              </a:rPr>
              <a:t>system </a:t>
            </a:r>
            <a:r>
              <a:rPr lang="en-US" spc="-5" dirty="0" smtClean="0">
                <a:solidFill>
                  <a:schemeClr val="bg1"/>
                </a:solidFill>
              </a:rPr>
              <a:t>at </a:t>
            </a:r>
            <a:r>
              <a:rPr smtClean="0">
                <a:solidFill>
                  <a:schemeClr val="bg1"/>
                </a:solidFill>
              </a:rPr>
              <a:t>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smtClean="0">
                <a:solidFill>
                  <a:schemeClr val="bg1"/>
                </a:solidFill>
              </a:rPr>
              <a:t>very</a:t>
            </a:r>
            <a:r>
              <a:rPr spc="-15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low</a:t>
            </a:r>
            <a:r>
              <a:rPr spc="-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cost</a:t>
            </a:r>
            <a:r>
              <a:rPr spc="-10" dirty="0"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and</a:t>
            </a:r>
            <a:r>
              <a:rPr spc="-5">
                <a:solidFill>
                  <a:schemeClr val="bg1"/>
                </a:solidFill>
              </a:rPr>
              <a:t> </a:t>
            </a:r>
            <a:r>
              <a:rPr smtClean="0">
                <a:solidFill>
                  <a:schemeClr val="bg1"/>
                </a:solidFill>
              </a:rPr>
              <a:t>easy</a:t>
            </a:r>
            <a:r>
              <a:rPr lang="en-US" spc="-10" dirty="0" smtClean="0">
                <a:solidFill>
                  <a:schemeClr val="bg1"/>
                </a:solidFill>
              </a:rPr>
              <a:t>            </a:t>
            </a:r>
          </a:p>
          <a:p>
            <a:pPr marL="1957705">
              <a:lnSpc>
                <a:spcPct val="100000"/>
              </a:lnSpc>
              <a:spcBef>
                <a:spcPts val="100"/>
              </a:spcBef>
            </a:pPr>
            <a:r>
              <a:rPr lang="en-US" spc="-10" dirty="0" smtClean="0">
                <a:solidFill>
                  <a:schemeClr val="bg1"/>
                </a:solidFill>
              </a:rPr>
              <a:t>    </a:t>
            </a:r>
            <a:r>
              <a:rPr spc="-5" smtClean="0">
                <a:solidFill>
                  <a:schemeClr val="bg1"/>
                </a:solidFill>
              </a:rPr>
              <a:t>implementation</a:t>
            </a:r>
            <a:r>
              <a:rPr spc="-5" smtClean="0">
                <a:solidFill>
                  <a:schemeClr val="bg1"/>
                </a:solidFill>
              </a:rPr>
              <a:t>.</a:t>
            </a:r>
            <a:endParaRPr lang="en-US" spc="-5" dirty="0" smtClean="0">
              <a:solidFill>
                <a:schemeClr val="bg1"/>
              </a:solidFill>
            </a:endParaRPr>
          </a:p>
          <a:p>
            <a:pPr marL="1957705">
              <a:lnSpc>
                <a:spcPct val="100000"/>
              </a:lnSpc>
              <a:spcBef>
                <a:spcPts val="100"/>
              </a:spcBef>
            </a:pPr>
            <a:endParaRPr lang="en-US" spc="-5" dirty="0" smtClean="0">
              <a:solidFill>
                <a:schemeClr val="bg1"/>
              </a:solidFill>
            </a:endParaRPr>
          </a:p>
          <a:p>
            <a:pPr marL="1957705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Ø"/>
            </a:pPr>
            <a:r>
              <a:rPr spc="-5" smtClean="0">
                <a:solidFill>
                  <a:schemeClr val="bg1"/>
                </a:solidFill>
              </a:rPr>
              <a:t>It</a:t>
            </a:r>
            <a:r>
              <a:rPr spc="-1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also reduces</a:t>
            </a:r>
            <a:r>
              <a:rPr spc="-5" dirty="0">
                <a:solidFill>
                  <a:schemeClr val="bg1"/>
                </a:solidFill>
              </a:rPr>
              <a:t> the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storage</a:t>
            </a:r>
            <a:r>
              <a:rPr dirty="0">
                <a:solidFill>
                  <a:schemeClr val="bg1"/>
                </a:solidFill>
              </a:rPr>
              <a:t> by</a:t>
            </a:r>
            <a:r>
              <a:rPr spc="-5" dirty="0">
                <a:solidFill>
                  <a:schemeClr val="bg1"/>
                </a:solidFill>
              </a:rPr>
              <a:t> capturing</a:t>
            </a:r>
            <a:r>
              <a:rPr dirty="0">
                <a:solidFill>
                  <a:schemeClr val="bg1"/>
                </a:solidFill>
              </a:rPr>
              <a:t> only</a:t>
            </a:r>
            <a:r>
              <a:rPr spc="-5" dirty="0">
                <a:solidFill>
                  <a:schemeClr val="bg1"/>
                </a:solidFill>
              </a:rPr>
              <a:t> </a:t>
            </a:r>
            <a:r>
              <a:rPr spc="-5">
                <a:solidFill>
                  <a:schemeClr val="bg1"/>
                </a:solidFill>
              </a:rPr>
              <a:t>the</a:t>
            </a:r>
            <a:r>
              <a:rPr>
                <a:solidFill>
                  <a:schemeClr val="bg1"/>
                </a:solidFill>
              </a:rPr>
              <a:t> </a:t>
            </a:r>
            <a:endParaRPr lang="en-US" dirty="0" smtClean="0">
              <a:solidFill>
                <a:schemeClr val="bg1"/>
              </a:solidFill>
            </a:endParaRPr>
          </a:p>
          <a:p>
            <a:pPr marL="1957705">
              <a:lnSpc>
                <a:spcPct val="100000"/>
              </a:lnSpc>
              <a:spcBef>
                <a:spcPts val="100"/>
              </a:spcBef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</a:t>
            </a:r>
            <a:r>
              <a:rPr smtClean="0">
                <a:solidFill>
                  <a:schemeClr val="bg1"/>
                </a:solidFill>
              </a:rPr>
              <a:t>necessar</a:t>
            </a:r>
            <a:r>
              <a:rPr lang="en-US" dirty="0" smtClean="0">
                <a:solidFill>
                  <a:schemeClr val="bg1"/>
                </a:solidFill>
              </a:rPr>
              <a:t>y </a:t>
            </a:r>
            <a:r>
              <a:rPr spc="-5" smtClean="0">
                <a:solidFill>
                  <a:schemeClr val="bg1"/>
                </a:solidFill>
              </a:rPr>
              <a:t>things</a:t>
            </a:r>
            <a:r>
              <a:rPr spc="-5" dirty="0">
                <a:solidFill>
                  <a:schemeClr val="bg1"/>
                </a:solidFill>
              </a:rPr>
              <a:t>.</a:t>
            </a:r>
          </a:p>
          <a:p>
            <a:pPr marL="1945005">
              <a:lnSpc>
                <a:spcPct val="100000"/>
              </a:lnSpc>
              <a:spcBef>
                <a:spcPts val="15"/>
              </a:spcBef>
            </a:pPr>
            <a:endParaRPr sz="3150">
              <a:solidFill>
                <a:schemeClr val="bg1"/>
              </a:solidFill>
            </a:endParaRPr>
          </a:p>
          <a:p>
            <a:pPr marL="1957705">
              <a:lnSpc>
                <a:spcPct val="100000"/>
              </a:lnSpc>
              <a:spcBef>
                <a:spcPts val="5"/>
              </a:spcBef>
              <a:buFont typeface="Wingdings" pitchFamily="2" charset="2"/>
              <a:buChar char="Ø"/>
            </a:pPr>
            <a:r>
              <a:rPr dirty="0">
                <a:solidFill>
                  <a:schemeClr val="bg1"/>
                </a:solidFill>
              </a:rPr>
              <a:t>Smart</a:t>
            </a:r>
            <a:r>
              <a:rPr spc="-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camera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can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be</a:t>
            </a:r>
            <a:r>
              <a:rPr spc="-1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used</a:t>
            </a:r>
            <a:r>
              <a:rPr spc="-1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almost</a:t>
            </a:r>
            <a:r>
              <a:rPr spc="-2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everywhere.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2743200"/>
            <a:ext cx="42773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95" dirty="0">
                <a:solidFill>
                  <a:schemeClr val="bg1"/>
                </a:solidFill>
              </a:rPr>
              <a:t>THANK</a:t>
            </a:r>
            <a:r>
              <a:rPr sz="6000" spc="-80" dirty="0">
                <a:solidFill>
                  <a:schemeClr val="bg1"/>
                </a:solidFill>
              </a:rPr>
              <a:t> </a:t>
            </a:r>
            <a:r>
              <a:rPr sz="6000" spc="-165" dirty="0">
                <a:solidFill>
                  <a:schemeClr val="bg1"/>
                </a:solidFill>
              </a:rPr>
              <a:t>YOU</a:t>
            </a:r>
            <a:endParaRPr sz="60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207</TotalTime>
  <Words>404</Words>
  <Application>Microsoft Office PowerPoint</Application>
  <PresentationFormat>Custom</PresentationFormat>
  <Paragraphs>85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HUMAN DETECTION USING SMART CAMERA (CSE-C)</vt:lpstr>
      <vt:lpstr>Slide 2</vt:lpstr>
      <vt:lpstr>EXISTING   SYSTEM</vt:lpstr>
      <vt:lpstr>Slide 4</vt:lpstr>
      <vt:lpstr>PROPOSED SYSTEM</vt:lpstr>
      <vt:lpstr>SCOPE  AND OBJECTIVE  OF  WORK</vt:lpstr>
      <vt:lpstr> TOOLS AND TECHNOLOGY</vt:lpstr>
      <vt:lpstr>SOFTWARE REQUIRED</vt:lpstr>
      <vt:lpstr>Slide 9</vt:lpstr>
      <vt:lpstr>REFERENCES</vt:lpstr>
      <vt:lpstr>CONCLUSION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Mini_Project Smart Camera(FN)</dc:title>
  <dc:creator>student</dc:creator>
  <cp:lastModifiedBy>admin</cp:lastModifiedBy>
  <cp:revision>8</cp:revision>
  <dcterms:created xsi:type="dcterms:W3CDTF">2024-04-22T05:07:10Z</dcterms:created>
  <dcterms:modified xsi:type="dcterms:W3CDTF">2024-04-27T14:13:27Z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2023-07-31T00:00:00Z</vt:filetime>
  </property>
  <property fmtid="{D5CDD505-2E9C-101B-9397-08002B2CF9AE}" pid="3" name="Creator">
    <vt:lpwstr>Keynote</vt:lpwstr>
  </property>
  <property fmtid="{D5CDD505-2E9C-101B-9397-08002B2CF9AE}" pid="4" name="LastSaved">
    <vt:filetime>2024-04-22T00:00:00Z</vt:filetime>
  </property>
</Properties>
</file>
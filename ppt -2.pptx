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81" r:id="rId3"/>
    <p:sldId id="282" r:id="rId4"/>
    <p:sldId id="260" r:id="rId5"/>
    <p:sldId id="283" r:id="rId6"/>
    <p:sldId id="257" r:id="rId7"/>
    <p:sldId id="261" r:id="rId8"/>
    <p:sldId id="284" r:id="rId9"/>
    <p:sldId id="263" r:id="rId10"/>
    <p:sldId id="264" r:id="rId11"/>
    <p:sldId id="279" r:id="rId12"/>
    <p:sldId id="285" r:id="rId13"/>
    <p:sldId id="286" r:id="rId14"/>
    <p:sldId id="287" r:id="rId15"/>
    <p:sldId id="288" r:id="rId16"/>
    <p:sldId id="290" r:id="rId17"/>
    <p:sldId id="289" r:id="rId18"/>
    <p:sldId id="262" r:id="rId19"/>
    <p:sldId id="278" r:id="rId20"/>
    <p:sldId id="275" r:id="rId21"/>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121E"/>
  </p:clrMru>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147" autoAdjust="0"/>
    <p:restoredTop sz="94660"/>
  </p:normalViewPr>
  <p:slideViewPr>
    <p:cSldViewPr>
      <p:cViewPr varScale="1">
        <p:scale>
          <a:sx n="73" d="100"/>
          <a:sy n="73" d="100"/>
        </p:scale>
        <p:origin x="-618" y="-102"/>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939660C2-463A-4A8E-B9D2-D1B027FEF1DC}" type="datetimeFigureOut">
              <a:rPr lang="en-US" smtClean="0"/>
              <a:pPr/>
              <a:t>7/10/2024</a:t>
            </a:fld>
            <a:endParaRPr lang="en-US"/>
          </a:p>
        </p:txBody>
      </p:sp>
      <p:sp>
        <p:nvSpPr>
          <p:cNvPr id="4" name="Slide Image Placeholder 3"/>
          <p:cNvSpPr>
            <a:spLocks noGrp="1" noRot="1" noChangeAspect="1"/>
          </p:cNvSpPr>
          <p:nvPr>
            <p:ph type="sldImg" idx="2"/>
          </p:nvPr>
        </p:nvSpPr>
        <p:spPr>
          <a:xfrm>
            <a:off x="3810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2484CF32-33D8-4858-9771-C2F70F56CD8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7/10/2024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50" b="1" i="0">
                <a:solidFill>
                  <a:srgbClr val="178DBB"/>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400" b="0" i="0">
                <a:solidFill>
                  <a:srgbClr val="404040"/>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7/10/2024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50" b="1" i="0">
                <a:solidFill>
                  <a:srgbClr val="178DBB"/>
                </a:solidFill>
                <a:latin typeface="Tahoma"/>
                <a:cs typeface="Tahom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7/10/2024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50" b="1" i="0">
                <a:solidFill>
                  <a:srgbClr val="178DBB"/>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7/10/2024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7/10/2024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l="-1000" r="-1000"/>
          </a:stretch>
        </a:blip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12192000" cy="6857999"/>
          </a:xfrm>
          <a:prstGeom prst="rect">
            <a:avLst/>
          </a:prstGeom>
        </p:spPr>
      </p:pic>
      <p:pic>
        <p:nvPicPr>
          <p:cNvPr id="17" name="bg object 17"/>
          <p:cNvPicPr/>
          <p:nvPr/>
        </p:nvPicPr>
        <p:blipFill>
          <a:blip r:embed="rId9" cstate="print"/>
          <a:stretch>
            <a:fillRect/>
          </a:stretch>
        </p:blipFill>
        <p:spPr>
          <a:xfrm>
            <a:off x="0" y="157"/>
            <a:ext cx="2851516" cy="6857842"/>
          </a:xfrm>
          <a:prstGeom prst="rect">
            <a:avLst/>
          </a:prstGeom>
        </p:spPr>
      </p:pic>
      <p:sp>
        <p:nvSpPr>
          <p:cNvPr id="18" name="bg object 18"/>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2E5369"/>
          </a:solidFill>
        </p:spPr>
        <p:txBody>
          <a:bodyPr wrap="square" lIns="0" tIns="0" rIns="0" bIns="0" rtlCol="0"/>
          <a:lstStyle/>
          <a:p>
            <a:endParaRPr/>
          </a:p>
        </p:txBody>
      </p:sp>
      <p:sp>
        <p:nvSpPr>
          <p:cNvPr id="19" name="bg object 19"/>
          <p:cNvSpPr/>
          <p:nvPr/>
        </p:nvSpPr>
        <p:spPr>
          <a:xfrm>
            <a:off x="0" y="714375"/>
            <a:ext cx="1591945" cy="507365"/>
          </a:xfrm>
          <a:custGeom>
            <a:avLst/>
            <a:gdLst/>
            <a:ahLst/>
            <a:cxnLst/>
            <a:rect l="l" t="t" r="r" b="b"/>
            <a:pathLst>
              <a:path w="1591945" h="507365">
                <a:moveTo>
                  <a:pt x="105" y="0"/>
                </a:moveTo>
                <a:lnTo>
                  <a:pt x="0" y="503757"/>
                </a:lnTo>
                <a:lnTo>
                  <a:pt x="1245436" y="507296"/>
                </a:lnTo>
                <a:lnTo>
                  <a:pt x="1345750" y="507296"/>
                </a:lnTo>
                <a:lnTo>
                  <a:pt x="1350387" y="502528"/>
                </a:lnTo>
                <a:lnTo>
                  <a:pt x="1351934" y="500904"/>
                </a:lnTo>
                <a:lnTo>
                  <a:pt x="1353822" y="499383"/>
                </a:lnTo>
                <a:lnTo>
                  <a:pt x="1355369" y="497759"/>
                </a:lnTo>
                <a:lnTo>
                  <a:pt x="1584337" y="268817"/>
                </a:lnTo>
                <a:lnTo>
                  <a:pt x="1589651" y="261663"/>
                </a:lnTo>
                <a:lnTo>
                  <a:pt x="1591423" y="254510"/>
                </a:lnTo>
                <a:lnTo>
                  <a:pt x="1589651" y="247357"/>
                </a:lnTo>
                <a:lnTo>
                  <a:pt x="1584337" y="240205"/>
                </a:lnTo>
                <a:lnTo>
                  <a:pt x="1355369" y="11262"/>
                </a:lnTo>
                <a:lnTo>
                  <a:pt x="1350387" y="11262"/>
                </a:lnTo>
                <a:lnTo>
                  <a:pt x="1350387" y="6493"/>
                </a:lnTo>
                <a:lnTo>
                  <a:pt x="1345750" y="6493"/>
                </a:lnTo>
                <a:lnTo>
                  <a:pt x="1340939" y="1724"/>
                </a:lnTo>
                <a:lnTo>
                  <a:pt x="1245436" y="1724"/>
                </a:lnTo>
                <a:lnTo>
                  <a:pt x="105" y="0"/>
                </a:lnTo>
                <a:close/>
              </a:path>
            </a:pathLst>
          </a:custGeom>
          <a:solidFill>
            <a:srgbClr val="353535"/>
          </a:solidFill>
        </p:spPr>
        <p:txBody>
          <a:bodyPr wrap="square" lIns="0" tIns="0" rIns="0" bIns="0" rtlCol="0"/>
          <a:lstStyle/>
          <a:p>
            <a:endParaRPr/>
          </a:p>
        </p:txBody>
      </p:sp>
      <p:sp>
        <p:nvSpPr>
          <p:cNvPr id="2" name="Holder 2"/>
          <p:cNvSpPr>
            <a:spLocks noGrp="1"/>
          </p:cNvSpPr>
          <p:nvPr>
            <p:ph type="title"/>
          </p:nvPr>
        </p:nvSpPr>
        <p:spPr>
          <a:xfrm>
            <a:off x="4525761" y="808190"/>
            <a:ext cx="3140709" cy="919480"/>
          </a:xfrm>
          <a:prstGeom prst="rect">
            <a:avLst/>
          </a:prstGeom>
        </p:spPr>
        <p:txBody>
          <a:bodyPr wrap="square" lIns="0" tIns="0" rIns="0" bIns="0">
            <a:spAutoFit/>
          </a:bodyPr>
          <a:lstStyle>
            <a:lvl1pPr>
              <a:defRPr sz="3150" b="1" i="0">
                <a:solidFill>
                  <a:srgbClr val="178DBB"/>
                </a:solidFill>
                <a:latin typeface="Tahoma"/>
                <a:cs typeface="Tahoma"/>
              </a:defRPr>
            </a:lvl1pPr>
          </a:lstStyle>
          <a:p>
            <a:endParaRPr/>
          </a:p>
        </p:txBody>
      </p:sp>
      <p:sp>
        <p:nvSpPr>
          <p:cNvPr id="3" name="Holder 3"/>
          <p:cNvSpPr>
            <a:spLocks noGrp="1"/>
          </p:cNvSpPr>
          <p:nvPr>
            <p:ph type="body" idx="1"/>
          </p:nvPr>
        </p:nvSpPr>
        <p:spPr>
          <a:xfrm>
            <a:off x="917291" y="2142857"/>
            <a:ext cx="10357416" cy="3450590"/>
          </a:xfrm>
          <a:prstGeom prst="rect">
            <a:avLst/>
          </a:prstGeom>
        </p:spPr>
        <p:txBody>
          <a:bodyPr wrap="square" lIns="0" tIns="0" rIns="0" bIns="0">
            <a:spAutoFit/>
          </a:bodyPr>
          <a:lstStyle>
            <a:lvl1pPr>
              <a:defRPr sz="2400" b="0" i="0">
                <a:solidFill>
                  <a:srgbClr val="404040"/>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7/10/2024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bing.com/ck/a?!&amp;&amp;p=b5cfeac55938f889JmltdHM9MTcxNDA4OTYwMCZpZ3VpZD0wNGI1OWY0My1mMDQ4LTYwY" TargetMode="External"/><Relationship Id="rId2" Type="http://schemas.openxmlformats.org/officeDocument/2006/relationships/hyperlink" Target="https://www.bing.com/ck/a?!&amp;&amp;p=824d1e70362fef1fJmltdHM9MTcxNDA4OTYwMCZpZ3VpZD0wNGI1OWY+using+smart+camera&amp;u=a1aHR0cHM6Ly9pZWVleHBsb3JlLmllZWUub3JnL2RvY3VtZW50LzYwNDI5MjQv&amp;ntb=1"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6800" y="1143000"/>
            <a:ext cx="6248399" cy="1399742"/>
          </a:xfrm>
          <a:prstGeom prst="rect">
            <a:avLst/>
          </a:prstGeom>
        </p:spPr>
        <p:txBody>
          <a:bodyPr vert="horz" wrap="square" lIns="0" tIns="17145" rIns="0" bIns="0" rtlCol="0">
            <a:spAutoFit/>
          </a:bodyPr>
          <a:lstStyle/>
          <a:p>
            <a:pPr algn="ctr">
              <a:lnSpc>
                <a:spcPct val="100000"/>
              </a:lnSpc>
              <a:spcBef>
                <a:spcPts val="135"/>
              </a:spcBef>
            </a:pPr>
            <a:r>
              <a:rPr lang="en-US" spc="-150" dirty="0" smtClean="0">
                <a:solidFill>
                  <a:schemeClr val="bg1"/>
                </a:solidFill>
                <a:latin typeface="Times New Roman" pitchFamily="18" charset="0"/>
                <a:ea typeface="Artifakt Element Heavy" pitchFamily="34" charset="0"/>
                <a:cs typeface="Times New Roman" pitchFamily="18" charset="0"/>
              </a:rPr>
              <a:t>HUMAN   DETECTION  USING SMART CAMERA</a:t>
            </a:r>
            <a:r>
              <a:rPr lang="en-US" spc="200" dirty="0" smtClean="0">
                <a:solidFill>
                  <a:schemeClr val="bg1"/>
                </a:solidFill>
              </a:rPr>
              <a:t/>
            </a:r>
            <a:br>
              <a:rPr lang="en-US" spc="200" dirty="0" smtClean="0">
                <a:solidFill>
                  <a:schemeClr val="bg1"/>
                </a:solidFill>
              </a:rPr>
            </a:br>
            <a:endParaRPr lang="en-US" sz="2600" dirty="0">
              <a:solidFill>
                <a:schemeClr val="bg1"/>
              </a:solidFill>
            </a:endParaRPr>
          </a:p>
        </p:txBody>
      </p:sp>
      <p:sp>
        <p:nvSpPr>
          <p:cNvPr id="4" name="object 4"/>
          <p:cNvSpPr txBox="1"/>
          <p:nvPr/>
        </p:nvSpPr>
        <p:spPr>
          <a:xfrm>
            <a:off x="609600" y="3733800"/>
            <a:ext cx="4572000" cy="3213700"/>
          </a:xfrm>
          <a:prstGeom prst="rect">
            <a:avLst/>
          </a:prstGeom>
        </p:spPr>
        <p:txBody>
          <a:bodyPr vert="horz" wrap="square" lIns="0" tIns="12700" rIns="0" bIns="0" rtlCol="0">
            <a:spAutoFit/>
          </a:bodyPr>
          <a:lstStyle/>
          <a:p>
            <a:r>
              <a:rPr lang="pt-BR" sz="2000" b="1" u="sng" dirty="0" smtClean="0">
                <a:solidFill>
                  <a:schemeClr val="bg1"/>
                </a:solidFill>
              </a:rPr>
              <a:t>BATCH </a:t>
            </a:r>
            <a:r>
              <a:rPr lang="pt-BR" sz="2000" b="1" u="sng" dirty="0">
                <a:solidFill>
                  <a:schemeClr val="bg1"/>
                </a:solidFill>
              </a:rPr>
              <a:t>NO - 5 </a:t>
            </a:r>
            <a:endParaRPr lang="pt-BR" sz="2000" b="1" dirty="0" smtClean="0">
              <a:solidFill>
                <a:schemeClr val="bg1"/>
              </a:solidFill>
            </a:endParaRPr>
          </a:p>
          <a:p>
            <a:r>
              <a:rPr lang="pt-BR" sz="2000" b="1" dirty="0">
                <a:solidFill>
                  <a:schemeClr val="bg1"/>
                </a:solidFill>
              </a:rPr>
              <a:t>22R01A05D1     A.Keerthana </a:t>
            </a:r>
            <a:endParaRPr lang="pt-BR" sz="2000" b="1" dirty="0" smtClean="0">
              <a:solidFill>
                <a:schemeClr val="bg1"/>
              </a:solidFill>
            </a:endParaRPr>
          </a:p>
          <a:p>
            <a:r>
              <a:rPr lang="pt-BR" sz="2000" b="1" dirty="0">
                <a:solidFill>
                  <a:schemeClr val="bg1"/>
                </a:solidFill>
              </a:rPr>
              <a:t>22R01A05D2     B.Harika</a:t>
            </a:r>
            <a:endParaRPr lang="pt-BR" sz="2000" b="1" dirty="0" smtClean="0">
              <a:solidFill>
                <a:schemeClr val="bg1"/>
              </a:solidFill>
            </a:endParaRPr>
          </a:p>
          <a:p>
            <a:r>
              <a:rPr lang="pt-BR" sz="2000" b="1" dirty="0">
                <a:solidFill>
                  <a:schemeClr val="bg1"/>
                </a:solidFill>
              </a:rPr>
              <a:t>22R01A05E0     E.Harsha</a:t>
            </a:r>
            <a:endParaRPr lang="pt-BR" sz="2000" b="1" dirty="0" smtClean="0">
              <a:solidFill>
                <a:schemeClr val="bg1"/>
              </a:solidFill>
            </a:endParaRPr>
          </a:p>
          <a:p>
            <a:r>
              <a:rPr lang="pt-BR" sz="2000" b="1" dirty="0">
                <a:solidFill>
                  <a:schemeClr val="bg1"/>
                </a:solidFill>
              </a:rPr>
              <a:t>22R01A05E9     </a:t>
            </a:r>
            <a:r>
              <a:rPr lang="pt-BR" sz="2000" b="1" dirty="0" smtClean="0">
                <a:solidFill>
                  <a:schemeClr val="bg1"/>
                </a:solidFill>
              </a:rPr>
              <a:t>K.Harika</a:t>
            </a:r>
          </a:p>
          <a:p>
            <a:endParaRPr lang="pt-BR" sz="2000" dirty="0" smtClean="0"/>
          </a:p>
          <a:p>
            <a:r>
              <a:rPr lang="pt-BR" sz="2000" dirty="0" smtClean="0"/>
              <a:t> </a:t>
            </a:r>
            <a:r>
              <a:rPr lang="pt-BR" sz="2000" b="1" dirty="0" smtClean="0">
                <a:solidFill>
                  <a:schemeClr val="bg1"/>
                </a:solidFill>
              </a:rPr>
              <a:t>GUIDE  -  A. NAGESHWAR RAO</a:t>
            </a:r>
            <a:br>
              <a:rPr lang="pt-BR" sz="2000" b="1" dirty="0" smtClean="0">
                <a:solidFill>
                  <a:schemeClr val="bg1"/>
                </a:solidFill>
              </a:rPr>
            </a:br>
            <a:endParaRPr lang="pt-BR" sz="2000" b="1" dirty="0" smtClean="0">
              <a:solidFill>
                <a:schemeClr val="bg1"/>
              </a:solidFill>
            </a:endParaRPr>
          </a:p>
          <a:p>
            <a:r>
              <a:rPr lang="pt-BR" sz="2400" b="0" dirty="0" smtClean="0"/>
              <a:t/>
            </a:r>
            <a:br>
              <a:rPr lang="pt-BR" sz="2400" b="0" dirty="0" smtClean="0"/>
            </a:br>
            <a:endParaRPr sz="2400" dirty="0">
              <a:latin typeface="Arial"/>
              <a:cs typeface="Arial"/>
            </a:endParaRPr>
          </a:p>
        </p:txBody>
      </p:sp>
    </p:spTree>
  </p:cSld>
  <p:clrMapOvr>
    <a:masterClrMapping/>
  </p:clrMapOvr>
  <p:transition>
    <p:cover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762000"/>
            <a:ext cx="3505200" cy="762000"/>
          </a:xfrm>
        </p:spPr>
        <p:txBody>
          <a:bodyPr/>
          <a:lstStyle/>
          <a:p>
            <a:pPr algn="l"/>
            <a:r>
              <a:rPr lang="en-US" sz="4000" dirty="0" smtClean="0">
                <a:solidFill>
                  <a:schemeClr val="bg1"/>
                </a:solidFill>
                <a:latin typeface="Times New Roman" panose="02020603050405020304" pitchFamily="18" charset="0"/>
                <a:cs typeface="Times New Roman" panose="02020603050405020304" pitchFamily="18" charset="0"/>
              </a:rPr>
              <a:t>CONTENTS:</a:t>
            </a:r>
            <a:endParaRPr lang="en-US" sz="4000" dirty="0">
              <a:solidFill>
                <a:schemeClr val="bg1"/>
              </a:solidFill>
            </a:endParaRPr>
          </a:p>
        </p:txBody>
      </p:sp>
      <p:sp>
        <p:nvSpPr>
          <p:cNvPr id="3" name="Text Placeholder 2"/>
          <p:cNvSpPr>
            <a:spLocks noGrp="1"/>
          </p:cNvSpPr>
          <p:nvPr>
            <p:ph type="body" idx="1"/>
          </p:nvPr>
        </p:nvSpPr>
        <p:spPr>
          <a:xfrm>
            <a:off x="685800" y="1752600"/>
            <a:ext cx="10588907" cy="4431983"/>
          </a:xfrm>
        </p:spPr>
        <p:txBody>
          <a:bodyPr/>
          <a:lstStyle/>
          <a:p>
            <a:r>
              <a:rPr lang="en-US" dirty="0" smtClean="0">
                <a:solidFill>
                  <a:schemeClr val="bg1"/>
                </a:solidFill>
                <a:latin typeface="Times New Roman" panose="02020603050405020304" pitchFamily="18" charset="0"/>
                <a:cs typeface="Times New Roman" panose="02020603050405020304" pitchFamily="18" charset="0"/>
              </a:rPr>
              <a:t>1.  Introduction</a:t>
            </a:r>
          </a:p>
          <a:p>
            <a:r>
              <a:rPr lang="en-US" dirty="0" smtClean="0">
                <a:solidFill>
                  <a:schemeClr val="bg1"/>
                </a:solidFill>
                <a:latin typeface="Times New Roman" panose="02020603050405020304" pitchFamily="18" charset="0"/>
                <a:cs typeface="Times New Roman" panose="02020603050405020304" pitchFamily="18" charset="0"/>
              </a:rPr>
              <a:t>2.  Existing System and </a:t>
            </a:r>
            <a:r>
              <a:rPr lang="en-US" dirty="0" err="1" smtClean="0">
                <a:solidFill>
                  <a:schemeClr val="bg1"/>
                </a:solidFill>
                <a:latin typeface="Times New Roman" panose="02020603050405020304" pitchFamily="18" charset="0"/>
                <a:cs typeface="Times New Roman" panose="02020603050405020304" pitchFamily="18" charset="0"/>
              </a:rPr>
              <a:t>Dis</a:t>
            </a:r>
            <a:r>
              <a:rPr lang="en-US" dirty="0" smtClean="0">
                <a:solidFill>
                  <a:schemeClr val="bg1"/>
                </a:solidFill>
                <a:latin typeface="Times New Roman" panose="02020603050405020304" pitchFamily="18" charset="0"/>
                <a:cs typeface="Times New Roman" panose="02020603050405020304" pitchFamily="18" charset="0"/>
              </a:rPr>
              <a:t>-advantages</a:t>
            </a:r>
          </a:p>
          <a:p>
            <a:r>
              <a:rPr lang="en-US" dirty="0" smtClean="0">
                <a:solidFill>
                  <a:schemeClr val="bg1"/>
                </a:solidFill>
                <a:latin typeface="Times New Roman" panose="02020603050405020304" pitchFamily="18" charset="0"/>
                <a:cs typeface="Times New Roman" panose="02020603050405020304" pitchFamily="18" charset="0"/>
              </a:rPr>
              <a:t>3.  Problem Statement</a:t>
            </a:r>
          </a:p>
          <a:p>
            <a:r>
              <a:rPr lang="en-US" dirty="0" smtClean="0">
                <a:solidFill>
                  <a:schemeClr val="bg1"/>
                </a:solidFill>
                <a:latin typeface="Times New Roman" panose="02020603050405020304" pitchFamily="18" charset="0"/>
                <a:cs typeface="Times New Roman" panose="02020603050405020304" pitchFamily="18" charset="0"/>
              </a:rPr>
              <a:t>4.  Proposed System and Advantages</a:t>
            </a:r>
          </a:p>
          <a:p>
            <a:r>
              <a:rPr lang="en-US" dirty="0" smtClean="0">
                <a:solidFill>
                  <a:schemeClr val="bg1"/>
                </a:solidFill>
                <a:latin typeface="Times New Roman" panose="02020603050405020304" pitchFamily="18" charset="0"/>
                <a:cs typeface="Times New Roman" panose="02020603050405020304" pitchFamily="18" charset="0"/>
              </a:rPr>
              <a:t>5.  Requirements Analysis</a:t>
            </a:r>
          </a:p>
          <a:p>
            <a:r>
              <a:rPr lang="en-US" dirty="0" smtClean="0">
                <a:solidFill>
                  <a:schemeClr val="bg1"/>
                </a:solidFill>
                <a:latin typeface="Times New Roman" panose="02020603050405020304" pitchFamily="18" charset="0"/>
                <a:cs typeface="Times New Roman" panose="02020603050405020304" pitchFamily="18" charset="0"/>
              </a:rPr>
              <a:t>6.  Design</a:t>
            </a:r>
          </a:p>
          <a:p>
            <a:r>
              <a:rPr lang="en-US" dirty="0" smtClean="0">
                <a:solidFill>
                  <a:schemeClr val="bg1"/>
                </a:solidFill>
                <a:latin typeface="Times New Roman" panose="02020603050405020304" pitchFamily="18" charset="0"/>
                <a:cs typeface="Times New Roman" panose="02020603050405020304" pitchFamily="18" charset="0"/>
              </a:rPr>
              <a:t>7.  Implementation</a:t>
            </a:r>
          </a:p>
          <a:p>
            <a:r>
              <a:rPr lang="en-US" dirty="0" smtClean="0">
                <a:solidFill>
                  <a:schemeClr val="bg1"/>
                </a:solidFill>
                <a:latin typeface="Times New Roman" panose="02020603050405020304" pitchFamily="18" charset="0"/>
                <a:cs typeface="Times New Roman" panose="02020603050405020304" pitchFamily="18" charset="0"/>
              </a:rPr>
              <a:t>8.  Feasibility Study</a:t>
            </a:r>
          </a:p>
          <a:p>
            <a:r>
              <a:rPr lang="en-US" dirty="0" smtClean="0">
                <a:solidFill>
                  <a:schemeClr val="bg1"/>
                </a:solidFill>
                <a:latin typeface="Times New Roman" panose="02020603050405020304" pitchFamily="18" charset="0"/>
                <a:cs typeface="Times New Roman" panose="02020603050405020304" pitchFamily="18" charset="0"/>
              </a:rPr>
              <a:t>9.  Output</a:t>
            </a:r>
          </a:p>
          <a:p>
            <a:r>
              <a:rPr lang="en-US" dirty="0" smtClean="0">
                <a:solidFill>
                  <a:schemeClr val="bg1"/>
                </a:solidFill>
                <a:latin typeface="Times New Roman" panose="02020603050405020304" pitchFamily="18" charset="0"/>
                <a:cs typeface="Times New Roman" panose="02020603050405020304" pitchFamily="18" charset="0"/>
              </a:rPr>
              <a:t>10. Conclusion and Future Scope</a:t>
            </a:r>
          </a:p>
          <a:p>
            <a:r>
              <a:rPr lang="en-US" dirty="0" smtClean="0">
                <a:solidFill>
                  <a:schemeClr val="bg1"/>
                </a:solidFill>
                <a:latin typeface="Times New Roman" panose="02020603050405020304" pitchFamily="18" charset="0"/>
                <a:cs typeface="Times New Roman" panose="02020603050405020304" pitchFamily="18" charset="0"/>
              </a:rPr>
              <a:t>11. Reference</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11353800" cy="5943600"/>
          </a:xfrm>
          <a:prstGeom prst="rect">
            <a:avLst/>
          </a:prstGeom>
          <a:solidFill>
            <a:schemeClr val="tx2">
              <a:lumMod val="50000"/>
            </a:schemeClr>
          </a:solidFill>
          <a:ln>
            <a:no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1447800" y="685800"/>
            <a:ext cx="3886200" cy="646331"/>
          </a:xfrm>
          <a:prstGeom prst="rect">
            <a:avLst/>
          </a:prstGeom>
          <a:noFill/>
        </p:spPr>
        <p:txBody>
          <a:bodyPr wrap="square" rtlCol="0">
            <a:spAutoFit/>
          </a:bodyPr>
          <a:lstStyle/>
          <a:p>
            <a:r>
              <a:rPr lang="en-US" sz="3600" dirty="0" smtClean="0">
                <a:solidFill>
                  <a:schemeClr val="bg1"/>
                </a:solidFill>
                <a:latin typeface="Artifakt Element Black" pitchFamily="34" charset="0"/>
                <a:ea typeface="Artifakt Element Black" pitchFamily="34" charset="0"/>
              </a:rPr>
              <a:t>INTRODUCTION</a:t>
            </a:r>
            <a:endParaRPr lang="en-US" sz="3600" dirty="0">
              <a:solidFill>
                <a:schemeClr val="bg1"/>
              </a:solidFill>
              <a:latin typeface="Artifakt Element Black" pitchFamily="34" charset="0"/>
              <a:ea typeface="Artifakt Element Black" pitchFamily="34" charset="0"/>
            </a:endParaRPr>
          </a:p>
        </p:txBody>
      </p:sp>
      <p:sp>
        <p:nvSpPr>
          <p:cNvPr id="5" name="TextBox 4"/>
          <p:cNvSpPr txBox="1"/>
          <p:nvPr/>
        </p:nvSpPr>
        <p:spPr>
          <a:xfrm>
            <a:off x="1066800" y="2209800"/>
            <a:ext cx="9372600" cy="4399717"/>
          </a:xfrm>
          <a:prstGeom prst="rect">
            <a:avLst/>
          </a:prstGeom>
          <a:noFill/>
        </p:spPr>
        <p:txBody>
          <a:bodyPr wrap="square" rtlCol="0">
            <a:spAutoFit/>
          </a:bodyPr>
          <a:lstStyle/>
          <a:p>
            <a:r>
              <a:rPr lang="en-US" sz="2800" dirty="0" smtClean="0">
                <a:solidFill>
                  <a:schemeClr val="bg1"/>
                </a:solidFill>
              </a:rPr>
              <a:t>The concept of a smart camera that exclusively detects human motion brings a myriad of applications and benefits to diverse industries and settings. By honing in on human activity, these cameras offer enhanced security, improved surveillance, and efficient monitoring systems while </a:t>
            </a:r>
            <a:r>
              <a:rPr lang="en-US" sz="2800" dirty="0" err="1" smtClean="0">
                <a:solidFill>
                  <a:schemeClr val="bg1"/>
                </a:solidFill>
              </a:rPr>
              <a:t>minimising</a:t>
            </a:r>
            <a:r>
              <a:rPr lang="en-US" sz="2800" dirty="0" smtClean="0">
                <a:solidFill>
                  <a:schemeClr val="bg1"/>
                </a:solidFill>
              </a:rPr>
              <a:t> false alarms triggered by non-human events.</a:t>
            </a:r>
            <a:r>
              <a:rPr lang="en-US" sz="2800" dirty="0" smtClean="0"/>
              <a:t> </a:t>
            </a:r>
            <a:r>
              <a:rPr lang="en-US" sz="2800" dirty="0" smtClean="0">
                <a:solidFill>
                  <a:schemeClr val="bg1"/>
                </a:solidFill>
              </a:rPr>
              <a:t>These cameras are tailored to respect individual rights while providing an added layer of protection.</a:t>
            </a:r>
          </a:p>
          <a:p>
            <a:r>
              <a:rPr lang="en-US" sz="2800" dirty="0" smtClean="0">
                <a:solidFill>
                  <a:schemeClr val="bg1"/>
                </a:solidFill>
              </a:rPr>
              <a:t> </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9944" y="619419"/>
            <a:ext cx="4560855" cy="574040"/>
          </a:xfrm>
          <a:prstGeom prst="rect">
            <a:avLst/>
          </a:prstGeom>
        </p:spPr>
        <p:txBody>
          <a:bodyPr vert="horz" wrap="square" lIns="0" tIns="12700" rIns="0" bIns="0" rtlCol="0">
            <a:spAutoFit/>
          </a:bodyPr>
          <a:lstStyle/>
          <a:p>
            <a:pPr marL="12700">
              <a:lnSpc>
                <a:spcPct val="100000"/>
              </a:lnSpc>
              <a:spcBef>
                <a:spcPts val="100"/>
              </a:spcBef>
            </a:pPr>
            <a:r>
              <a:rPr lang="en-US" sz="3600" spc="-260" dirty="0" smtClean="0">
                <a:solidFill>
                  <a:schemeClr val="bg1"/>
                </a:solidFill>
                <a:latin typeface="Artifakt Element Black" pitchFamily="34" charset="0"/>
                <a:ea typeface="Artifakt Element Black" pitchFamily="34" charset="0"/>
              </a:rPr>
              <a:t>EXISTING   SYSTEM</a:t>
            </a:r>
            <a:endParaRPr lang="en-US" sz="3600" dirty="0">
              <a:solidFill>
                <a:schemeClr val="bg1"/>
              </a:solidFill>
              <a:latin typeface="Artifakt Element Black" pitchFamily="34" charset="0"/>
              <a:ea typeface="Artifakt Element Black" pitchFamily="34" charset="0"/>
            </a:endParaRPr>
          </a:p>
        </p:txBody>
      </p:sp>
      <p:sp>
        <p:nvSpPr>
          <p:cNvPr id="5" name="object 5"/>
          <p:cNvSpPr txBox="1"/>
          <p:nvPr/>
        </p:nvSpPr>
        <p:spPr>
          <a:xfrm>
            <a:off x="762000" y="2438400"/>
            <a:ext cx="5486400" cy="2254463"/>
          </a:xfrm>
          <a:prstGeom prst="rect">
            <a:avLst/>
          </a:prstGeom>
        </p:spPr>
        <p:txBody>
          <a:bodyPr vert="horz" wrap="square" lIns="0" tIns="12700" rIns="0" bIns="0" rtlCol="0">
            <a:spAutoFit/>
          </a:bodyPr>
          <a:lstStyle/>
          <a:p>
            <a:pPr marL="12700">
              <a:lnSpc>
                <a:spcPct val="100000"/>
              </a:lnSpc>
              <a:spcBef>
                <a:spcPts val="100"/>
              </a:spcBef>
            </a:pPr>
            <a:r>
              <a:rPr sz="2400" spc="-5" dirty="0">
                <a:solidFill>
                  <a:schemeClr val="bg1"/>
                </a:solidFill>
                <a:latin typeface="Arial MT"/>
                <a:cs typeface="Arial MT"/>
              </a:rPr>
              <a:t>The</a:t>
            </a:r>
            <a:r>
              <a:rPr sz="2400" dirty="0">
                <a:solidFill>
                  <a:schemeClr val="bg1"/>
                </a:solidFill>
                <a:latin typeface="Arial MT"/>
                <a:cs typeface="Arial MT"/>
              </a:rPr>
              <a:t> </a:t>
            </a:r>
            <a:r>
              <a:rPr sz="2400" spc="-5" dirty="0">
                <a:solidFill>
                  <a:schemeClr val="bg1"/>
                </a:solidFill>
                <a:latin typeface="Arial MT"/>
                <a:cs typeface="Arial MT"/>
              </a:rPr>
              <a:t>CCTV</a:t>
            </a:r>
            <a:r>
              <a:rPr sz="2400" dirty="0">
                <a:solidFill>
                  <a:schemeClr val="bg1"/>
                </a:solidFill>
                <a:latin typeface="Arial MT"/>
                <a:cs typeface="Arial MT"/>
              </a:rPr>
              <a:t> records</a:t>
            </a:r>
            <a:r>
              <a:rPr sz="2400" spc="-5" dirty="0">
                <a:solidFill>
                  <a:schemeClr val="bg1"/>
                </a:solidFill>
                <a:latin typeface="Arial MT"/>
                <a:cs typeface="Arial MT"/>
              </a:rPr>
              <a:t> everything</a:t>
            </a:r>
            <a:r>
              <a:rPr sz="2400" spc="5" dirty="0">
                <a:solidFill>
                  <a:schemeClr val="bg1"/>
                </a:solidFill>
                <a:latin typeface="Arial MT"/>
                <a:cs typeface="Arial MT"/>
              </a:rPr>
              <a:t> </a:t>
            </a:r>
            <a:r>
              <a:rPr sz="2400" dirty="0">
                <a:solidFill>
                  <a:schemeClr val="bg1"/>
                </a:solidFill>
                <a:latin typeface="Arial MT"/>
                <a:cs typeface="Arial MT"/>
              </a:rPr>
              <a:t>and due </a:t>
            </a:r>
            <a:r>
              <a:rPr sz="2400" spc="-5" dirty="0">
                <a:solidFill>
                  <a:schemeClr val="bg1"/>
                </a:solidFill>
                <a:latin typeface="Arial MT"/>
                <a:cs typeface="Arial MT"/>
              </a:rPr>
              <a:t>to</a:t>
            </a:r>
            <a:r>
              <a:rPr sz="2400" spc="5" dirty="0">
                <a:solidFill>
                  <a:schemeClr val="bg1"/>
                </a:solidFill>
                <a:latin typeface="Arial MT"/>
                <a:cs typeface="Arial MT"/>
              </a:rPr>
              <a:t> </a:t>
            </a:r>
            <a:r>
              <a:rPr sz="2400" spc="-5" dirty="0">
                <a:solidFill>
                  <a:schemeClr val="bg1"/>
                </a:solidFill>
                <a:latin typeface="Arial MT"/>
                <a:cs typeface="Arial MT"/>
              </a:rPr>
              <a:t>that </a:t>
            </a:r>
            <a:r>
              <a:rPr sz="2400" dirty="0">
                <a:solidFill>
                  <a:schemeClr val="bg1"/>
                </a:solidFill>
                <a:latin typeface="Arial MT"/>
                <a:cs typeface="Arial MT"/>
              </a:rPr>
              <a:t>lot</a:t>
            </a:r>
            <a:r>
              <a:rPr sz="2400" spc="-5" dirty="0">
                <a:solidFill>
                  <a:schemeClr val="bg1"/>
                </a:solidFill>
                <a:latin typeface="Arial MT"/>
                <a:cs typeface="Arial MT"/>
              </a:rPr>
              <a:t> </a:t>
            </a:r>
            <a:r>
              <a:rPr sz="2400" dirty="0">
                <a:solidFill>
                  <a:schemeClr val="bg1"/>
                </a:solidFill>
                <a:latin typeface="Arial MT"/>
                <a:cs typeface="Arial MT"/>
              </a:rPr>
              <a:t>of </a:t>
            </a:r>
            <a:r>
              <a:rPr sz="2400" spc="-5" dirty="0">
                <a:solidFill>
                  <a:schemeClr val="bg1"/>
                </a:solidFill>
                <a:latin typeface="Arial MT"/>
                <a:cs typeface="Arial MT"/>
              </a:rPr>
              <a:t>storage</a:t>
            </a:r>
            <a:r>
              <a:rPr sz="2400" dirty="0">
                <a:solidFill>
                  <a:schemeClr val="bg1"/>
                </a:solidFill>
                <a:latin typeface="Arial MT"/>
                <a:cs typeface="Arial MT"/>
              </a:rPr>
              <a:t> </a:t>
            </a:r>
            <a:r>
              <a:rPr sz="2400">
                <a:solidFill>
                  <a:schemeClr val="bg1"/>
                </a:solidFill>
                <a:latin typeface="Arial MT"/>
                <a:cs typeface="Arial MT"/>
              </a:rPr>
              <a:t>is</a:t>
            </a:r>
            <a:r>
              <a:rPr sz="2400" spc="-5">
                <a:solidFill>
                  <a:schemeClr val="bg1"/>
                </a:solidFill>
                <a:latin typeface="Arial MT"/>
                <a:cs typeface="Arial MT"/>
              </a:rPr>
              <a:t> </a:t>
            </a:r>
            <a:r>
              <a:rPr sz="2400" smtClean="0">
                <a:solidFill>
                  <a:schemeClr val="bg1"/>
                </a:solidFill>
                <a:latin typeface="Arial MT"/>
                <a:cs typeface="Arial MT"/>
              </a:rPr>
              <a:t>consume</a:t>
            </a:r>
            <a:r>
              <a:rPr lang="en-US" sz="2400" dirty="0" smtClean="0">
                <a:solidFill>
                  <a:schemeClr val="bg1"/>
                </a:solidFill>
                <a:latin typeface="Arial MT"/>
                <a:cs typeface="Arial MT"/>
              </a:rPr>
              <a:t> </a:t>
            </a:r>
          </a:p>
          <a:p>
            <a:pPr marL="12700">
              <a:lnSpc>
                <a:spcPct val="100000"/>
              </a:lnSpc>
              <a:spcBef>
                <a:spcPts val="100"/>
              </a:spcBef>
            </a:pPr>
            <a:endParaRPr lang="en-US" sz="2400" dirty="0" smtClean="0">
              <a:solidFill>
                <a:schemeClr val="bg1"/>
              </a:solidFill>
              <a:latin typeface="Arial MT"/>
              <a:cs typeface="Arial MT"/>
            </a:endParaRPr>
          </a:p>
          <a:p>
            <a:pPr marL="12700">
              <a:lnSpc>
                <a:spcPct val="100000"/>
              </a:lnSpc>
              <a:spcBef>
                <a:spcPts val="100"/>
              </a:spcBef>
            </a:pPr>
            <a:r>
              <a:rPr lang="en-US" sz="2400" dirty="0" smtClean="0">
                <a:solidFill>
                  <a:schemeClr val="bg1"/>
                </a:solidFill>
                <a:latin typeface="Arial MT"/>
                <a:cs typeface="Arial MT"/>
              </a:rPr>
              <a:t>When the crime happens we have to go throw all the footage which takes lot of time</a:t>
            </a:r>
            <a:endParaRPr sz="2400" smtClean="0">
              <a:solidFill>
                <a:schemeClr val="bg1"/>
              </a:solidFill>
              <a:latin typeface="Arial MT"/>
              <a:cs typeface="Arial MT"/>
            </a:endParaRPr>
          </a:p>
        </p:txBody>
      </p:sp>
    </p:spTree>
  </p:cSld>
  <p:clrMapOvr>
    <a:masterClrMapping/>
  </p:clrMapOvr>
  <p:transition>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609600"/>
            <a:ext cx="11049000" cy="5715000"/>
          </a:xfrm>
          <a:prstGeom prst="rect">
            <a:avLst/>
          </a:prstGeom>
          <a:solidFill>
            <a:schemeClr val="tx2">
              <a:lumMod val="50000"/>
            </a:schemeClr>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bg1"/>
              </a:solidFill>
              <a:latin typeface="Artifakt Element Black" pitchFamily="34" charset="0"/>
              <a:ea typeface="Artifakt Element Black" pitchFamily="34" charset="0"/>
            </a:endParaRPr>
          </a:p>
        </p:txBody>
      </p:sp>
      <p:sp>
        <p:nvSpPr>
          <p:cNvPr id="6" name="TextBox 5"/>
          <p:cNvSpPr txBox="1"/>
          <p:nvPr/>
        </p:nvSpPr>
        <p:spPr>
          <a:xfrm>
            <a:off x="1143000" y="1066800"/>
            <a:ext cx="7543800" cy="1200329"/>
          </a:xfrm>
          <a:prstGeom prst="rect">
            <a:avLst/>
          </a:prstGeom>
          <a:noFill/>
        </p:spPr>
        <p:txBody>
          <a:bodyPr wrap="square" rtlCol="0">
            <a:spAutoFit/>
          </a:bodyPr>
          <a:lstStyle/>
          <a:p>
            <a:r>
              <a:rPr lang="en-US" sz="3600" dirty="0" smtClean="0">
                <a:solidFill>
                  <a:schemeClr val="bg1"/>
                </a:solidFill>
                <a:latin typeface="Artifakt Element Black" pitchFamily="34" charset="0"/>
                <a:ea typeface="Artifakt Element Black" pitchFamily="34" charset="0"/>
              </a:rPr>
              <a:t>DIS -ADVANTAGES</a:t>
            </a:r>
          </a:p>
          <a:p>
            <a:endParaRPr lang="en-US" sz="3600" dirty="0"/>
          </a:p>
        </p:txBody>
      </p:sp>
      <p:sp>
        <p:nvSpPr>
          <p:cNvPr id="8" name="TextBox 7"/>
          <p:cNvSpPr txBox="1"/>
          <p:nvPr/>
        </p:nvSpPr>
        <p:spPr>
          <a:xfrm>
            <a:off x="685800" y="2108537"/>
            <a:ext cx="10820400" cy="3847207"/>
          </a:xfrm>
          <a:prstGeom prst="rect">
            <a:avLst/>
          </a:prstGeom>
          <a:noFill/>
        </p:spPr>
        <p:txBody>
          <a:bodyPr wrap="square" rtlCol="0">
            <a:spAutoFit/>
          </a:bodyPr>
          <a:lstStyle/>
          <a:p>
            <a:pPr>
              <a:buFont typeface="Wingdings" pitchFamily="2" charset="2"/>
              <a:buChar char="Ø"/>
            </a:pPr>
            <a:r>
              <a:rPr lang="en-US" sz="2800" dirty="0" smtClean="0">
                <a:solidFill>
                  <a:schemeClr val="bg1"/>
                </a:solidFill>
              </a:rPr>
              <a:t>  </a:t>
            </a:r>
            <a:r>
              <a:rPr lang="en-US" sz="2800" u="sng" dirty="0" smtClean="0">
                <a:solidFill>
                  <a:schemeClr val="bg1"/>
                </a:solidFill>
              </a:rPr>
              <a:t>Initial Cost:  </a:t>
            </a:r>
            <a:r>
              <a:rPr lang="en-US" sz="2800" dirty="0" smtClean="0">
                <a:solidFill>
                  <a:schemeClr val="bg1"/>
                </a:solidFill>
              </a:rPr>
              <a:t>Smart cameras often come with higher upfront  costs      </a:t>
            </a:r>
          </a:p>
          <a:p>
            <a:r>
              <a:rPr lang="en-US" sz="2800" dirty="0" smtClean="0">
                <a:solidFill>
                  <a:schemeClr val="bg1"/>
                </a:solidFill>
              </a:rPr>
              <a:t>                              compared to other traditional surveillance systems </a:t>
            </a:r>
          </a:p>
          <a:p>
            <a:pPr>
              <a:buFont typeface="Wingdings" pitchFamily="2" charset="2"/>
              <a:buChar char="Ø"/>
            </a:pPr>
            <a:r>
              <a:rPr lang="en-US" sz="2800" u="sng" dirty="0" smtClean="0">
                <a:solidFill>
                  <a:schemeClr val="bg1"/>
                </a:solidFill>
              </a:rPr>
              <a:t>Dependence on Connectivity</a:t>
            </a:r>
            <a:r>
              <a:rPr lang="en-US" sz="2800" dirty="0" smtClean="0">
                <a:solidFill>
                  <a:schemeClr val="bg1"/>
                </a:solidFill>
              </a:rPr>
              <a:t>: Smart cameras may rely on an internet </a:t>
            </a:r>
          </a:p>
          <a:p>
            <a:r>
              <a:rPr lang="en-US" sz="2800" dirty="0" smtClean="0">
                <a:solidFill>
                  <a:schemeClr val="bg1"/>
                </a:solidFill>
              </a:rPr>
              <a:t>                              connection or cloud services for some features</a:t>
            </a:r>
          </a:p>
          <a:p>
            <a:pPr>
              <a:buFont typeface="Wingdings" pitchFamily="2" charset="2"/>
              <a:buChar char="Ø"/>
            </a:pPr>
            <a:r>
              <a:rPr lang="en-US" sz="2800" u="sng" dirty="0" smtClean="0">
                <a:solidFill>
                  <a:schemeClr val="bg1"/>
                </a:solidFill>
              </a:rPr>
              <a:t>False Alarms</a:t>
            </a:r>
            <a:r>
              <a:rPr lang="en-US" sz="2800" dirty="0" smtClean="0">
                <a:solidFill>
                  <a:schemeClr val="bg1"/>
                </a:solidFill>
              </a:rPr>
              <a:t>: The AI-based analytics in smart cameras can sometimes     </a:t>
            </a:r>
          </a:p>
          <a:p>
            <a:r>
              <a:rPr lang="en-US" sz="2800" dirty="0" smtClean="0">
                <a:solidFill>
                  <a:schemeClr val="bg1"/>
                </a:solidFill>
              </a:rPr>
              <a:t>                              lead to false alarms, triggering responses</a:t>
            </a:r>
          </a:p>
          <a:p>
            <a:pPr>
              <a:buFont typeface="Wingdings" pitchFamily="2" charset="2"/>
              <a:buChar char="Ø"/>
            </a:pPr>
            <a:r>
              <a:rPr lang="en-US" sz="2800" u="sng" dirty="0" smtClean="0">
                <a:solidFill>
                  <a:schemeClr val="bg1"/>
                </a:solidFill>
              </a:rPr>
              <a:t>Vulnerability to Hacking: </a:t>
            </a:r>
            <a:r>
              <a:rPr lang="en-US" sz="2800" dirty="0" smtClean="0">
                <a:solidFill>
                  <a:schemeClr val="bg1"/>
                </a:solidFill>
              </a:rPr>
              <a:t>Like any connected device, smart cameras are </a:t>
            </a:r>
          </a:p>
          <a:p>
            <a:r>
              <a:rPr lang="en-US" sz="2800" dirty="0" smtClean="0">
                <a:solidFill>
                  <a:schemeClr val="bg1"/>
                </a:solidFill>
              </a:rPr>
              <a:t>                             susceptible to hacking and </a:t>
            </a:r>
            <a:r>
              <a:rPr lang="en-US" sz="2800" dirty="0" err="1" smtClean="0">
                <a:solidFill>
                  <a:schemeClr val="bg1"/>
                </a:solidFill>
              </a:rPr>
              <a:t>unauthorised</a:t>
            </a:r>
            <a:r>
              <a:rPr lang="en-US" sz="2800" dirty="0" smtClean="0">
                <a:solidFill>
                  <a:schemeClr val="bg1"/>
                </a:solidFill>
              </a:rPr>
              <a:t> access</a:t>
            </a:r>
            <a:r>
              <a:rPr lang="en-US" sz="2800" dirty="0" smtClean="0"/>
              <a:t>,</a:t>
            </a:r>
            <a:endParaRPr lang="en-US" sz="2800" dirty="0" smtClean="0">
              <a:solidFill>
                <a:schemeClr val="bg1"/>
              </a:solidFill>
            </a:endParaRPr>
          </a:p>
          <a:p>
            <a:endParaRPr lang="en-US" sz="2000" dirty="0">
              <a:solidFill>
                <a:schemeClr val="bg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p:cNvSpPr/>
          <p:nvPr/>
        </p:nvSpPr>
        <p:spPr>
          <a:xfrm>
            <a:off x="304800" y="304800"/>
            <a:ext cx="11582400" cy="6096000"/>
          </a:xfrm>
          <a:prstGeom prst="rect">
            <a:avLst/>
          </a:prstGeom>
          <a:solidFill>
            <a:schemeClr val="tx2">
              <a:lumMod val="50000"/>
            </a:schemeClr>
          </a:solidFill>
          <a:ln>
            <a:solidFill>
              <a:schemeClr val="accent1">
                <a:lumMod val="50000"/>
              </a:schemeClr>
            </a:soli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9370">
              <a:lnSpc>
                <a:spcPct val="100000"/>
              </a:lnSpc>
              <a:spcBef>
                <a:spcPts val="125"/>
              </a:spcBef>
              <a:tabLst>
                <a:tab pos="1011555" algn="l"/>
                <a:tab pos="2269490" algn="l"/>
                <a:tab pos="3662045" algn="l"/>
                <a:tab pos="4752340" algn="l"/>
                <a:tab pos="5473700" algn="l"/>
                <a:tab pos="5859145" algn="l"/>
                <a:tab pos="6261735" algn="l"/>
                <a:tab pos="6848475" algn="l"/>
                <a:tab pos="8022590" algn="l"/>
              </a:tabLst>
            </a:pPr>
            <a:endParaRPr lang="en-US" sz="2400" dirty="0"/>
          </a:p>
        </p:txBody>
      </p:sp>
      <p:sp>
        <p:nvSpPr>
          <p:cNvPr id="7" name="TextBox 6"/>
          <p:cNvSpPr txBox="1"/>
          <p:nvPr/>
        </p:nvSpPr>
        <p:spPr>
          <a:xfrm>
            <a:off x="838200" y="2438400"/>
            <a:ext cx="9372600" cy="2246769"/>
          </a:xfrm>
          <a:prstGeom prst="rect">
            <a:avLst/>
          </a:prstGeom>
          <a:noFill/>
        </p:spPr>
        <p:txBody>
          <a:bodyPr wrap="square" rtlCol="0">
            <a:spAutoFit/>
          </a:bodyPr>
          <a:lstStyle/>
          <a:p>
            <a:pPr marL="39370" algn="just">
              <a:lnSpc>
                <a:spcPct val="100000"/>
              </a:lnSpc>
              <a:spcBef>
                <a:spcPts val="125"/>
              </a:spcBef>
              <a:tabLst>
                <a:tab pos="1011555" algn="l"/>
                <a:tab pos="2269490" algn="l"/>
                <a:tab pos="3662045" algn="l"/>
                <a:tab pos="4752340" algn="l"/>
                <a:tab pos="5473700" algn="l"/>
                <a:tab pos="5859145" algn="l"/>
                <a:tab pos="6261735" algn="l"/>
                <a:tab pos="6848475" algn="l"/>
                <a:tab pos="8022590" algn="l"/>
              </a:tabLst>
            </a:pPr>
            <a:r>
              <a:rPr lang="en-US" sz="2800" spc="10" dirty="0" smtClean="0">
                <a:solidFill>
                  <a:schemeClr val="bg1"/>
                </a:solidFill>
                <a:latin typeface="Arial MT"/>
                <a:cs typeface="Arial MT"/>
              </a:rPr>
              <a:t>Smart camera detects</a:t>
            </a:r>
            <a:r>
              <a:rPr lang="en-US" sz="2800" spc="5" dirty="0" smtClean="0">
                <a:solidFill>
                  <a:schemeClr val="bg1"/>
                </a:solidFill>
                <a:latin typeface="Arial MT"/>
                <a:cs typeface="Arial MT"/>
              </a:rPr>
              <a:t> </a:t>
            </a:r>
            <a:r>
              <a:rPr lang="en-US" sz="2800" spc="10" dirty="0" smtClean="0">
                <a:solidFill>
                  <a:schemeClr val="bg1"/>
                </a:solidFill>
                <a:latin typeface="Arial MT"/>
                <a:cs typeface="Arial MT"/>
              </a:rPr>
              <a:t>a person </a:t>
            </a:r>
            <a:r>
              <a:rPr lang="en-US" sz="2800" spc="15" dirty="0" smtClean="0">
                <a:solidFill>
                  <a:schemeClr val="bg1"/>
                </a:solidFill>
                <a:latin typeface="Arial MT"/>
                <a:cs typeface="Arial MT"/>
              </a:rPr>
              <a:t>who </a:t>
            </a:r>
            <a:r>
              <a:rPr lang="en-US" sz="2800" spc="5" dirty="0" smtClean="0">
                <a:solidFill>
                  <a:schemeClr val="bg1"/>
                </a:solidFill>
                <a:latin typeface="Arial MT"/>
                <a:cs typeface="Arial MT"/>
              </a:rPr>
              <a:t>is </a:t>
            </a:r>
            <a:r>
              <a:rPr lang="en-US" sz="2800" spc="10" dirty="0" smtClean="0">
                <a:solidFill>
                  <a:schemeClr val="bg1"/>
                </a:solidFill>
                <a:latin typeface="Arial MT"/>
                <a:cs typeface="Arial MT"/>
              </a:rPr>
              <a:t>in the camera vision. </a:t>
            </a:r>
            <a:r>
              <a:rPr lang="en-US" sz="2800" spc="15" dirty="0" smtClean="0">
                <a:solidFill>
                  <a:schemeClr val="bg1"/>
                </a:solidFill>
                <a:latin typeface="Arial MT"/>
                <a:cs typeface="Arial MT"/>
              </a:rPr>
              <a:t>W</a:t>
            </a:r>
            <a:r>
              <a:rPr lang="en-US" sz="2800" spc="10" dirty="0" smtClean="0">
                <a:solidFill>
                  <a:schemeClr val="bg1"/>
                </a:solidFill>
                <a:latin typeface="Arial MT"/>
                <a:cs typeface="Arial MT"/>
              </a:rPr>
              <a:t>hen</a:t>
            </a:r>
            <a:r>
              <a:rPr lang="en-US" sz="2800" spc="55" dirty="0" smtClean="0">
                <a:solidFill>
                  <a:schemeClr val="bg1"/>
                </a:solidFill>
                <a:latin typeface="Arial MT"/>
                <a:cs typeface="Arial MT"/>
              </a:rPr>
              <a:t> </a:t>
            </a:r>
            <a:r>
              <a:rPr lang="en-US" sz="2800" dirty="0" smtClean="0">
                <a:solidFill>
                  <a:schemeClr val="bg1"/>
                </a:solidFill>
                <a:latin typeface="Arial MT"/>
                <a:cs typeface="Arial MT"/>
              </a:rPr>
              <a:t>t</a:t>
            </a:r>
            <a:r>
              <a:rPr lang="en-US" sz="2800" spc="10" dirty="0" smtClean="0">
                <a:solidFill>
                  <a:schemeClr val="bg1"/>
                </a:solidFill>
                <a:latin typeface="Arial MT"/>
                <a:cs typeface="Arial MT"/>
              </a:rPr>
              <a:t>he person  </a:t>
            </a:r>
            <a:r>
              <a:rPr lang="en-US" sz="2800" spc="5" dirty="0" smtClean="0">
                <a:solidFill>
                  <a:schemeClr val="bg1"/>
                </a:solidFill>
                <a:latin typeface="Arial MT"/>
                <a:cs typeface="Arial MT"/>
              </a:rPr>
              <a:t>is  </a:t>
            </a:r>
            <a:r>
              <a:rPr lang="en-US" sz="2800" spc="10" dirty="0" smtClean="0">
                <a:solidFill>
                  <a:schemeClr val="bg1"/>
                </a:solidFill>
                <a:latin typeface="Arial MT"/>
                <a:cs typeface="Arial MT"/>
              </a:rPr>
              <a:t>de</a:t>
            </a:r>
            <a:r>
              <a:rPr lang="en-US" sz="2800" dirty="0" smtClean="0">
                <a:solidFill>
                  <a:schemeClr val="bg1"/>
                </a:solidFill>
                <a:latin typeface="Arial MT"/>
                <a:cs typeface="Arial MT"/>
              </a:rPr>
              <a:t>t</a:t>
            </a:r>
            <a:r>
              <a:rPr lang="en-US" sz="2800" spc="10" dirty="0" smtClean="0">
                <a:solidFill>
                  <a:schemeClr val="bg1"/>
                </a:solidFill>
                <a:latin typeface="Arial MT"/>
                <a:cs typeface="Arial MT"/>
              </a:rPr>
              <a:t>ec</a:t>
            </a:r>
            <a:r>
              <a:rPr lang="en-US" sz="2800" dirty="0" smtClean="0">
                <a:solidFill>
                  <a:schemeClr val="bg1"/>
                </a:solidFill>
                <a:latin typeface="Arial MT"/>
                <a:cs typeface="Arial MT"/>
              </a:rPr>
              <a:t>t</a:t>
            </a:r>
            <a:r>
              <a:rPr lang="en-US" sz="2800" spc="10" dirty="0" smtClean="0">
                <a:solidFill>
                  <a:schemeClr val="bg1"/>
                </a:solidFill>
                <a:latin typeface="Arial MT"/>
                <a:cs typeface="Arial MT"/>
              </a:rPr>
              <a:t>ed ,</a:t>
            </a:r>
            <a:r>
              <a:rPr lang="en-US" sz="2800" spc="5" dirty="0" smtClean="0">
                <a:solidFill>
                  <a:schemeClr val="bg1"/>
                </a:solidFill>
                <a:latin typeface="Arial MT"/>
                <a:cs typeface="Arial MT"/>
              </a:rPr>
              <a:t>it </a:t>
            </a:r>
            <a:r>
              <a:rPr lang="en-US" sz="2800" spc="10" dirty="0" smtClean="0">
                <a:solidFill>
                  <a:schemeClr val="bg1"/>
                </a:solidFill>
                <a:latin typeface="Arial MT"/>
                <a:cs typeface="Arial MT"/>
              </a:rPr>
              <a:t>s</a:t>
            </a:r>
            <a:r>
              <a:rPr lang="en-US" sz="2800" dirty="0" smtClean="0">
                <a:solidFill>
                  <a:schemeClr val="bg1"/>
                </a:solidFill>
                <a:latin typeface="Arial MT"/>
                <a:cs typeface="Arial MT"/>
              </a:rPr>
              <a:t>t</a:t>
            </a:r>
            <a:r>
              <a:rPr lang="en-US" sz="2800" spc="10" dirty="0" smtClean="0">
                <a:solidFill>
                  <a:schemeClr val="bg1"/>
                </a:solidFill>
                <a:latin typeface="Arial MT"/>
                <a:cs typeface="Arial MT"/>
              </a:rPr>
              <a:t>ar</a:t>
            </a:r>
            <a:r>
              <a:rPr lang="en-US" sz="2800" dirty="0" smtClean="0">
                <a:solidFill>
                  <a:schemeClr val="bg1"/>
                </a:solidFill>
                <a:latin typeface="Arial MT"/>
                <a:cs typeface="Arial MT"/>
              </a:rPr>
              <a:t>t</a:t>
            </a:r>
            <a:r>
              <a:rPr lang="en-US" sz="2800" spc="10" dirty="0" smtClean="0">
                <a:solidFill>
                  <a:schemeClr val="bg1"/>
                </a:solidFill>
                <a:latin typeface="Arial MT"/>
                <a:cs typeface="Arial MT"/>
              </a:rPr>
              <a:t>s recording and </a:t>
            </a:r>
            <a:r>
              <a:rPr lang="en-US" sz="2800" spc="15" dirty="0" smtClean="0">
                <a:solidFill>
                  <a:schemeClr val="bg1"/>
                </a:solidFill>
                <a:latin typeface="Arial MT"/>
                <a:cs typeface="Arial MT"/>
              </a:rPr>
              <a:t>when </a:t>
            </a:r>
            <a:r>
              <a:rPr lang="en-US" sz="2800" dirty="0" smtClean="0">
                <a:solidFill>
                  <a:schemeClr val="bg1"/>
                </a:solidFill>
                <a:latin typeface="Arial MT"/>
                <a:cs typeface="Arial MT"/>
              </a:rPr>
              <a:t>t</a:t>
            </a:r>
            <a:r>
              <a:rPr lang="en-US" sz="2800" spc="10" dirty="0" smtClean="0">
                <a:solidFill>
                  <a:schemeClr val="bg1"/>
                </a:solidFill>
                <a:latin typeface="Arial MT"/>
                <a:cs typeface="Arial MT"/>
              </a:rPr>
              <a:t>he  person goes out of the camera vision </a:t>
            </a:r>
            <a:r>
              <a:rPr lang="en-US" sz="2800" spc="5" dirty="0" smtClean="0">
                <a:solidFill>
                  <a:schemeClr val="bg1"/>
                </a:solidFill>
                <a:latin typeface="Arial MT"/>
                <a:cs typeface="Arial MT"/>
              </a:rPr>
              <a:t>it </a:t>
            </a:r>
            <a:r>
              <a:rPr lang="en-US" sz="2800" spc="10" dirty="0" smtClean="0">
                <a:solidFill>
                  <a:schemeClr val="bg1"/>
                </a:solidFill>
                <a:latin typeface="Arial MT"/>
                <a:cs typeface="Arial MT"/>
              </a:rPr>
              <a:t>stops recording These</a:t>
            </a:r>
            <a:r>
              <a:rPr lang="en-US" sz="2800" spc="15" dirty="0" smtClean="0">
                <a:solidFill>
                  <a:schemeClr val="bg1"/>
                </a:solidFill>
                <a:latin typeface="Arial MT"/>
                <a:cs typeface="Arial MT"/>
              </a:rPr>
              <a:t> </a:t>
            </a:r>
            <a:r>
              <a:rPr lang="en-US" sz="2800" spc="10" dirty="0" smtClean="0">
                <a:solidFill>
                  <a:schemeClr val="bg1"/>
                </a:solidFill>
                <a:latin typeface="Arial MT"/>
                <a:cs typeface="Arial MT"/>
              </a:rPr>
              <a:t>recordings are stored  in local database</a:t>
            </a:r>
            <a:endParaRPr lang="en-US" sz="2800" dirty="0"/>
          </a:p>
        </p:txBody>
      </p:sp>
      <p:sp>
        <p:nvSpPr>
          <p:cNvPr id="8" name="TextBox 7"/>
          <p:cNvSpPr txBox="1"/>
          <p:nvPr/>
        </p:nvSpPr>
        <p:spPr>
          <a:xfrm>
            <a:off x="1143000" y="838200"/>
            <a:ext cx="7010400" cy="769441"/>
          </a:xfrm>
          <a:prstGeom prst="rect">
            <a:avLst/>
          </a:prstGeom>
          <a:noFill/>
        </p:spPr>
        <p:txBody>
          <a:bodyPr wrap="square" rtlCol="0">
            <a:spAutoFit/>
          </a:bodyPr>
          <a:lstStyle/>
          <a:p>
            <a:r>
              <a:rPr lang="en-US" sz="4400" dirty="0" smtClean="0">
                <a:solidFill>
                  <a:schemeClr val="bg1"/>
                </a:solidFill>
                <a:latin typeface="Artifakt Element Black" pitchFamily="34" charset="0"/>
                <a:ea typeface="Artifakt Element Black" pitchFamily="34" charset="0"/>
              </a:rPr>
              <a:t>PROBLEM STATEMENT</a:t>
            </a:r>
            <a:endParaRPr lang="en-US" sz="4400" dirty="0">
              <a:solidFill>
                <a:schemeClr val="bg1"/>
              </a:solidFill>
              <a:latin typeface="Artifakt Element Black" pitchFamily="34" charset="0"/>
              <a:ea typeface="Artifakt Element Black" pitchFamily="34" charset="0"/>
            </a:endParaRPr>
          </a:p>
        </p:txBody>
      </p:sp>
    </p:spTree>
  </p:cSld>
  <p:clrMapOvr>
    <a:masterClrMapping/>
  </p:clrMapOvr>
  <p:transition>
    <p:pull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9945" y="607907"/>
            <a:ext cx="4186554" cy="566822"/>
          </a:xfrm>
          <a:prstGeom prst="rect">
            <a:avLst/>
          </a:prstGeom>
        </p:spPr>
        <p:txBody>
          <a:bodyPr vert="horz" wrap="square" lIns="0" tIns="12700" rIns="0" bIns="0" rtlCol="0">
            <a:spAutoFit/>
          </a:bodyPr>
          <a:lstStyle/>
          <a:p>
            <a:pPr marL="12700">
              <a:lnSpc>
                <a:spcPct val="100000"/>
              </a:lnSpc>
              <a:spcBef>
                <a:spcPts val="100"/>
              </a:spcBef>
            </a:pPr>
            <a:r>
              <a:rPr lang="en-US" sz="3600" spc="-90" dirty="0" smtClean="0">
                <a:solidFill>
                  <a:schemeClr val="bg1"/>
                </a:solidFill>
                <a:latin typeface="Artifakt Element Black" pitchFamily="34" charset="0"/>
                <a:ea typeface="Artifakt Element Black" pitchFamily="34" charset="0"/>
              </a:rPr>
              <a:t>PROPOSED</a:t>
            </a:r>
            <a:r>
              <a:rPr lang="en-US" sz="3600" spc="-120" dirty="0" smtClean="0">
                <a:solidFill>
                  <a:schemeClr val="bg1"/>
                </a:solidFill>
                <a:latin typeface="Artifakt Element Black" pitchFamily="34" charset="0"/>
                <a:ea typeface="Artifakt Element Black" pitchFamily="34" charset="0"/>
              </a:rPr>
              <a:t> </a:t>
            </a:r>
            <a:r>
              <a:rPr lang="en-US" sz="3600" spc="-165" dirty="0" smtClean="0">
                <a:solidFill>
                  <a:schemeClr val="bg1"/>
                </a:solidFill>
                <a:latin typeface="Artifakt Element Black" pitchFamily="34" charset="0"/>
                <a:ea typeface="Artifakt Element Black" pitchFamily="34" charset="0"/>
              </a:rPr>
              <a:t>SYSTEM</a:t>
            </a:r>
            <a:endParaRPr lang="en-US" sz="3600" dirty="0">
              <a:solidFill>
                <a:schemeClr val="bg1"/>
              </a:solidFill>
              <a:latin typeface="Artifakt Element Black" pitchFamily="34" charset="0"/>
              <a:ea typeface="Artifakt Element Black" pitchFamily="34" charset="0"/>
            </a:endParaRPr>
          </a:p>
        </p:txBody>
      </p:sp>
      <p:sp>
        <p:nvSpPr>
          <p:cNvPr id="7" name="object 7"/>
          <p:cNvSpPr txBox="1"/>
          <p:nvPr/>
        </p:nvSpPr>
        <p:spPr>
          <a:xfrm>
            <a:off x="457200" y="2133600"/>
            <a:ext cx="6400800" cy="2905667"/>
          </a:xfrm>
          <a:prstGeom prst="rect">
            <a:avLst/>
          </a:prstGeom>
        </p:spPr>
        <p:txBody>
          <a:bodyPr vert="horz" wrap="square" lIns="0" tIns="12700" rIns="0" bIns="0" rtlCol="0">
            <a:spAutoFit/>
          </a:bodyPr>
          <a:lstStyle/>
          <a:p>
            <a:pPr marL="12700">
              <a:lnSpc>
                <a:spcPct val="100000"/>
              </a:lnSpc>
              <a:spcBef>
                <a:spcPts val="100"/>
              </a:spcBef>
            </a:pPr>
            <a:r>
              <a:rPr sz="2400" spc="-5" dirty="0">
                <a:solidFill>
                  <a:schemeClr val="bg1"/>
                </a:solidFill>
                <a:latin typeface="Arial MT"/>
                <a:cs typeface="Arial MT"/>
              </a:rPr>
              <a:t>Our</a:t>
            </a:r>
            <a:r>
              <a:rPr sz="2400" spc="-15" dirty="0">
                <a:solidFill>
                  <a:schemeClr val="bg1"/>
                </a:solidFill>
                <a:latin typeface="Arial MT"/>
                <a:cs typeface="Arial MT"/>
              </a:rPr>
              <a:t> </a:t>
            </a:r>
            <a:r>
              <a:rPr sz="2400" spc="-5" dirty="0">
                <a:solidFill>
                  <a:schemeClr val="bg1"/>
                </a:solidFill>
                <a:latin typeface="Arial MT"/>
                <a:cs typeface="Arial MT"/>
              </a:rPr>
              <a:t>software </a:t>
            </a:r>
            <a:r>
              <a:rPr sz="2400" dirty="0">
                <a:solidFill>
                  <a:schemeClr val="bg1"/>
                </a:solidFill>
                <a:latin typeface="Arial MT"/>
                <a:cs typeface="Arial MT"/>
              </a:rPr>
              <a:t>helps</a:t>
            </a:r>
            <a:r>
              <a:rPr sz="2400" spc="-10" dirty="0">
                <a:solidFill>
                  <a:schemeClr val="bg1"/>
                </a:solidFill>
                <a:latin typeface="Arial MT"/>
                <a:cs typeface="Arial MT"/>
              </a:rPr>
              <a:t> </a:t>
            </a:r>
            <a:r>
              <a:rPr sz="2400" dirty="0">
                <a:solidFill>
                  <a:schemeClr val="bg1"/>
                </a:solidFill>
                <a:latin typeface="Arial MT"/>
                <a:cs typeface="Arial MT"/>
              </a:rPr>
              <a:t>in</a:t>
            </a:r>
            <a:r>
              <a:rPr sz="2400" spc="-5" dirty="0">
                <a:solidFill>
                  <a:schemeClr val="bg1"/>
                </a:solidFill>
                <a:latin typeface="Arial MT"/>
                <a:cs typeface="Arial MT"/>
              </a:rPr>
              <a:t> </a:t>
            </a:r>
            <a:r>
              <a:rPr sz="2400" dirty="0">
                <a:solidFill>
                  <a:schemeClr val="bg1"/>
                </a:solidFill>
                <a:latin typeface="Arial MT"/>
                <a:cs typeface="Arial MT"/>
              </a:rPr>
              <a:t>solving</a:t>
            </a:r>
            <a:r>
              <a:rPr sz="2400" spc="-5" dirty="0">
                <a:solidFill>
                  <a:schemeClr val="bg1"/>
                </a:solidFill>
                <a:latin typeface="Arial MT"/>
                <a:cs typeface="Arial MT"/>
              </a:rPr>
              <a:t> those </a:t>
            </a:r>
            <a:r>
              <a:rPr sz="2400" dirty="0">
                <a:solidFill>
                  <a:schemeClr val="bg1"/>
                </a:solidFill>
                <a:latin typeface="Arial MT"/>
                <a:cs typeface="Arial MT"/>
              </a:rPr>
              <a:t>problems.</a:t>
            </a:r>
          </a:p>
          <a:p>
            <a:pPr marL="12700" marR="5080">
              <a:lnSpc>
                <a:spcPct val="226399"/>
              </a:lnSpc>
            </a:pPr>
            <a:r>
              <a:rPr sz="2400" spc="-5" dirty="0">
                <a:solidFill>
                  <a:schemeClr val="bg1"/>
                </a:solidFill>
                <a:latin typeface="Arial MT"/>
                <a:cs typeface="Arial MT"/>
              </a:rPr>
              <a:t>It</a:t>
            </a:r>
            <a:r>
              <a:rPr sz="2400" spc="-10" dirty="0">
                <a:solidFill>
                  <a:schemeClr val="bg1"/>
                </a:solidFill>
                <a:latin typeface="Arial MT"/>
                <a:cs typeface="Arial MT"/>
              </a:rPr>
              <a:t> </a:t>
            </a:r>
            <a:r>
              <a:rPr sz="2400" dirty="0">
                <a:solidFill>
                  <a:schemeClr val="bg1"/>
                </a:solidFill>
                <a:latin typeface="Arial MT"/>
                <a:cs typeface="Arial MT"/>
              </a:rPr>
              <a:t>only</a:t>
            </a:r>
            <a:r>
              <a:rPr sz="2400" spc="-10" dirty="0">
                <a:solidFill>
                  <a:schemeClr val="bg1"/>
                </a:solidFill>
                <a:latin typeface="Arial MT"/>
                <a:cs typeface="Arial MT"/>
              </a:rPr>
              <a:t> </a:t>
            </a:r>
            <a:r>
              <a:rPr sz="2400" dirty="0">
                <a:solidFill>
                  <a:schemeClr val="bg1"/>
                </a:solidFill>
                <a:latin typeface="Arial MT"/>
                <a:cs typeface="Arial MT"/>
              </a:rPr>
              <a:t>records</a:t>
            </a:r>
            <a:r>
              <a:rPr sz="2400" spc="-10" dirty="0">
                <a:solidFill>
                  <a:schemeClr val="bg1"/>
                </a:solidFill>
                <a:latin typeface="Arial MT"/>
                <a:cs typeface="Arial MT"/>
              </a:rPr>
              <a:t> </a:t>
            </a:r>
            <a:r>
              <a:rPr sz="2400" dirty="0">
                <a:solidFill>
                  <a:schemeClr val="bg1"/>
                </a:solidFill>
                <a:latin typeface="Arial MT"/>
                <a:cs typeface="Arial MT"/>
              </a:rPr>
              <a:t>when</a:t>
            </a:r>
            <a:r>
              <a:rPr sz="2400" spc="-5" dirty="0">
                <a:solidFill>
                  <a:schemeClr val="bg1"/>
                </a:solidFill>
                <a:latin typeface="Arial MT"/>
                <a:cs typeface="Arial MT"/>
              </a:rPr>
              <a:t> there </a:t>
            </a:r>
            <a:r>
              <a:rPr sz="2400" dirty="0">
                <a:solidFill>
                  <a:schemeClr val="bg1"/>
                </a:solidFill>
                <a:latin typeface="Arial MT"/>
                <a:cs typeface="Arial MT"/>
              </a:rPr>
              <a:t>is</a:t>
            </a:r>
            <a:r>
              <a:rPr sz="2400" spc="-10" dirty="0">
                <a:solidFill>
                  <a:schemeClr val="bg1"/>
                </a:solidFill>
                <a:latin typeface="Arial MT"/>
                <a:cs typeface="Arial MT"/>
              </a:rPr>
              <a:t> </a:t>
            </a:r>
            <a:r>
              <a:rPr sz="2400" dirty="0">
                <a:solidFill>
                  <a:schemeClr val="bg1"/>
                </a:solidFill>
                <a:latin typeface="Arial MT"/>
                <a:cs typeface="Arial MT"/>
              </a:rPr>
              <a:t>any</a:t>
            </a:r>
            <a:r>
              <a:rPr sz="2400" spc="-10" dirty="0">
                <a:solidFill>
                  <a:schemeClr val="bg1"/>
                </a:solidFill>
                <a:latin typeface="Arial MT"/>
                <a:cs typeface="Arial MT"/>
              </a:rPr>
              <a:t> </a:t>
            </a:r>
            <a:r>
              <a:rPr sz="2400" dirty="0">
                <a:solidFill>
                  <a:schemeClr val="bg1"/>
                </a:solidFill>
                <a:latin typeface="Arial MT"/>
                <a:cs typeface="Arial MT"/>
              </a:rPr>
              <a:t>human</a:t>
            </a:r>
            <a:r>
              <a:rPr sz="2400" spc="-5" dirty="0">
                <a:solidFill>
                  <a:schemeClr val="bg1"/>
                </a:solidFill>
                <a:latin typeface="Arial MT"/>
                <a:cs typeface="Arial MT"/>
              </a:rPr>
              <a:t> </a:t>
            </a:r>
            <a:r>
              <a:rPr sz="2400" spc="-25" dirty="0" smtClean="0">
                <a:solidFill>
                  <a:schemeClr val="bg1"/>
                </a:solidFill>
                <a:latin typeface="Arial MT"/>
                <a:cs typeface="Arial MT"/>
              </a:rPr>
              <a:t>activity</a:t>
            </a:r>
            <a:r>
              <a:rPr sz="2400" spc="-25" dirty="0">
                <a:solidFill>
                  <a:schemeClr val="bg1"/>
                </a:solidFill>
                <a:latin typeface="Arial MT"/>
                <a:cs typeface="Arial MT"/>
              </a:rPr>
              <a:t>. </a:t>
            </a:r>
            <a:r>
              <a:rPr sz="2400" spc="-655" dirty="0">
                <a:solidFill>
                  <a:schemeClr val="bg1"/>
                </a:solidFill>
                <a:latin typeface="Arial MT"/>
                <a:cs typeface="Arial MT"/>
              </a:rPr>
              <a:t> </a:t>
            </a:r>
            <a:r>
              <a:rPr sz="2400" spc="-5" dirty="0">
                <a:solidFill>
                  <a:schemeClr val="bg1"/>
                </a:solidFill>
                <a:latin typeface="Arial MT"/>
                <a:cs typeface="Arial MT"/>
              </a:rPr>
              <a:t>It</a:t>
            </a:r>
            <a:r>
              <a:rPr sz="2400" spc="-10" dirty="0">
                <a:solidFill>
                  <a:schemeClr val="bg1"/>
                </a:solidFill>
                <a:latin typeface="Arial MT"/>
                <a:cs typeface="Arial MT"/>
              </a:rPr>
              <a:t> </a:t>
            </a:r>
            <a:r>
              <a:rPr sz="2400" spc="-5" dirty="0">
                <a:solidFill>
                  <a:schemeClr val="bg1"/>
                </a:solidFill>
                <a:latin typeface="Arial MT"/>
                <a:cs typeface="Arial MT"/>
              </a:rPr>
              <a:t>stops </a:t>
            </a:r>
            <a:r>
              <a:rPr sz="2400" dirty="0">
                <a:solidFill>
                  <a:schemeClr val="bg1"/>
                </a:solidFill>
                <a:latin typeface="Arial MT"/>
                <a:cs typeface="Arial MT"/>
              </a:rPr>
              <a:t>recording</a:t>
            </a:r>
            <a:r>
              <a:rPr sz="2400" spc="-5" dirty="0">
                <a:solidFill>
                  <a:schemeClr val="bg1"/>
                </a:solidFill>
                <a:latin typeface="Arial MT"/>
                <a:cs typeface="Arial MT"/>
              </a:rPr>
              <a:t> after </a:t>
            </a:r>
            <a:r>
              <a:rPr sz="2400" dirty="0">
                <a:solidFill>
                  <a:schemeClr val="bg1"/>
                </a:solidFill>
                <a:latin typeface="Arial MT"/>
                <a:cs typeface="Arial MT"/>
              </a:rPr>
              <a:t>5sec.</a:t>
            </a:r>
          </a:p>
          <a:p>
            <a:pPr>
              <a:lnSpc>
                <a:spcPct val="100000"/>
              </a:lnSpc>
              <a:spcBef>
                <a:spcPts val="20"/>
              </a:spcBef>
            </a:pPr>
            <a:endParaRPr sz="3150" dirty="0">
              <a:solidFill>
                <a:schemeClr val="bg1"/>
              </a:solidFill>
              <a:latin typeface="Arial MT"/>
              <a:cs typeface="Arial MT"/>
            </a:endParaRPr>
          </a:p>
          <a:p>
            <a:pPr marL="12700">
              <a:lnSpc>
                <a:spcPct val="100000"/>
              </a:lnSpc>
            </a:pPr>
            <a:r>
              <a:rPr sz="2400" spc="-5" dirty="0">
                <a:solidFill>
                  <a:schemeClr val="bg1"/>
                </a:solidFill>
                <a:latin typeface="Arial MT"/>
                <a:cs typeface="Arial MT"/>
              </a:rPr>
              <a:t>This</a:t>
            </a:r>
            <a:r>
              <a:rPr sz="2400" spc="-10" dirty="0">
                <a:solidFill>
                  <a:schemeClr val="bg1"/>
                </a:solidFill>
                <a:latin typeface="Arial MT"/>
                <a:cs typeface="Arial MT"/>
              </a:rPr>
              <a:t> </a:t>
            </a:r>
            <a:r>
              <a:rPr sz="2400" dirty="0">
                <a:solidFill>
                  <a:schemeClr val="bg1"/>
                </a:solidFill>
                <a:latin typeface="Arial MT"/>
                <a:cs typeface="Arial MT"/>
              </a:rPr>
              <a:t>helps</a:t>
            </a:r>
            <a:r>
              <a:rPr sz="2400" spc="-10" dirty="0">
                <a:solidFill>
                  <a:schemeClr val="bg1"/>
                </a:solidFill>
                <a:latin typeface="Arial MT"/>
                <a:cs typeface="Arial MT"/>
              </a:rPr>
              <a:t> </a:t>
            </a:r>
            <a:r>
              <a:rPr sz="2400" dirty="0">
                <a:solidFill>
                  <a:schemeClr val="bg1"/>
                </a:solidFill>
                <a:latin typeface="Arial MT"/>
                <a:cs typeface="Arial MT"/>
              </a:rPr>
              <a:t>in</a:t>
            </a:r>
            <a:r>
              <a:rPr sz="2400" spc="-5" dirty="0">
                <a:solidFill>
                  <a:schemeClr val="bg1"/>
                </a:solidFill>
                <a:latin typeface="Arial MT"/>
                <a:cs typeface="Arial MT"/>
              </a:rPr>
              <a:t> </a:t>
            </a:r>
            <a:r>
              <a:rPr sz="2400" dirty="0">
                <a:solidFill>
                  <a:schemeClr val="bg1"/>
                </a:solidFill>
                <a:latin typeface="Arial MT"/>
                <a:cs typeface="Arial MT"/>
              </a:rPr>
              <a:t>reducing</a:t>
            </a:r>
            <a:r>
              <a:rPr sz="2400" spc="-5" dirty="0">
                <a:solidFill>
                  <a:schemeClr val="bg1"/>
                </a:solidFill>
                <a:latin typeface="Arial MT"/>
                <a:cs typeface="Arial MT"/>
              </a:rPr>
              <a:t> storage </a:t>
            </a:r>
            <a:r>
              <a:rPr sz="2400" dirty="0">
                <a:solidFill>
                  <a:schemeClr val="bg1"/>
                </a:solidFill>
                <a:latin typeface="Arial MT"/>
                <a:cs typeface="Arial MT"/>
              </a:rPr>
              <a:t>and</a:t>
            </a:r>
            <a:r>
              <a:rPr sz="2400" spc="-5" dirty="0">
                <a:solidFill>
                  <a:schemeClr val="bg1"/>
                </a:solidFill>
                <a:latin typeface="Arial MT"/>
                <a:cs typeface="Arial MT"/>
              </a:rPr>
              <a:t> time</a:t>
            </a:r>
            <a:r>
              <a:rPr sz="2400" spc="-5" dirty="0">
                <a:solidFill>
                  <a:srgbClr val="404040"/>
                </a:solidFill>
                <a:latin typeface="Arial MT"/>
                <a:cs typeface="Arial MT"/>
              </a:rPr>
              <a:t>.</a:t>
            </a:r>
            <a:endParaRPr sz="2400" dirty="0">
              <a:latin typeface="Arial MT"/>
              <a:cs typeface="Arial MT"/>
            </a:endParaRPr>
          </a:p>
        </p:txBody>
      </p:sp>
      <p:sp>
        <p:nvSpPr>
          <p:cNvPr id="15362" name="AutoShape 2" descr="Image result for CCTV Camera Typ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364" name="AutoShape 4" descr="Image result for CCTV Camera Typ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ransition>
    <p:wipe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09600"/>
            <a:ext cx="11125200" cy="5791200"/>
          </a:xfrm>
          <a:prstGeom prst="rect">
            <a:avLst/>
          </a:prstGeom>
          <a:solidFill>
            <a:schemeClr val="tx2">
              <a:lumMod val="50000"/>
            </a:schemeClr>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828800" y="838200"/>
            <a:ext cx="5410200" cy="584775"/>
          </a:xfrm>
          <a:prstGeom prst="rect">
            <a:avLst/>
          </a:prstGeom>
          <a:noFill/>
        </p:spPr>
        <p:txBody>
          <a:bodyPr wrap="square" rtlCol="0">
            <a:spAutoFit/>
          </a:bodyPr>
          <a:lstStyle/>
          <a:p>
            <a:r>
              <a:rPr lang="en-US" sz="3200" dirty="0" smtClean="0">
                <a:solidFill>
                  <a:schemeClr val="bg1"/>
                </a:solidFill>
                <a:latin typeface="Artifakt Element Black" pitchFamily="34" charset="0"/>
                <a:ea typeface="Artifakt Element Black" pitchFamily="34" charset="0"/>
              </a:rPr>
              <a:t>ADVANTAGES</a:t>
            </a:r>
            <a:endParaRPr lang="en-US" sz="3200" dirty="0">
              <a:solidFill>
                <a:schemeClr val="bg1"/>
              </a:solidFill>
              <a:latin typeface="Artifakt Element Black" pitchFamily="34" charset="0"/>
              <a:ea typeface="Artifakt Element Black" pitchFamily="34" charset="0"/>
            </a:endParaRPr>
          </a:p>
        </p:txBody>
      </p:sp>
      <p:sp>
        <p:nvSpPr>
          <p:cNvPr id="4" name="TextBox 3"/>
          <p:cNvSpPr txBox="1"/>
          <p:nvPr/>
        </p:nvSpPr>
        <p:spPr>
          <a:xfrm>
            <a:off x="1066800" y="1600200"/>
            <a:ext cx="10058400" cy="4493538"/>
          </a:xfrm>
          <a:prstGeom prst="rect">
            <a:avLst/>
          </a:prstGeom>
          <a:noFill/>
        </p:spPr>
        <p:txBody>
          <a:bodyPr wrap="square" rtlCol="0">
            <a:spAutoFit/>
          </a:bodyPr>
          <a:lstStyle/>
          <a:p>
            <a:pPr>
              <a:buFont typeface="Wingdings" pitchFamily="2" charset="2"/>
              <a:buChar char="Ø"/>
            </a:pPr>
            <a:r>
              <a:rPr lang="en-US" sz="2600" u="sng" dirty="0" smtClean="0">
                <a:solidFill>
                  <a:schemeClr val="bg1"/>
                </a:solidFill>
              </a:rPr>
              <a:t>Enhanced Security: </a:t>
            </a:r>
            <a:r>
              <a:rPr lang="en-US" sz="2600" dirty="0" smtClean="0">
                <a:solidFill>
                  <a:schemeClr val="bg1"/>
                </a:solidFill>
              </a:rPr>
              <a:t>Smart cameras can detect and </a:t>
            </a:r>
            <a:r>
              <a:rPr lang="en-US" sz="2600" dirty="0" err="1" smtClean="0">
                <a:solidFill>
                  <a:schemeClr val="bg1"/>
                </a:solidFill>
              </a:rPr>
              <a:t>analyse</a:t>
            </a:r>
            <a:r>
              <a:rPr lang="en-US" sz="2600" dirty="0" smtClean="0">
                <a:solidFill>
                  <a:schemeClr val="bg1"/>
                </a:solidFill>
              </a:rPr>
              <a:t> suspicious   </a:t>
            </a:r>
          </a:p>
          <a:p>
            <a:r>
              <a:rPr lang="en-US" sz="2600" dirty="0" smtClean="0">
                <a:solidFill>
                  <a:schemeClr val="bg1"/>
                </a:solidFill>
              </a:rPr>
              <a:t>                                        activities</a:t>
            </a:r>
          </a:p>
          <a:p>
            <a:endParaRPr lang="en-US" sz="2600" dirty="0" smtClean="0">
              <a:solidFill>
                <a:schemeClr val="bg1"/>
              </a:solidFill>
            </a:endParaRPr>
          </a:p>
          <a:p>
            <a:pPr>
              <a:buFont typeface="Wingdings" pitchFamily="2" charset="2"/>
              <a:buChar char="Ø"/>
            </a:pPr>
            <a:r>
              <a:rPr lang="en-US" sz="2600" u="sng" dirty="0" smtClean="0">
                <a:solidFill>
                  <a:schemeClr val="bg1"/>
                </a:solidFill>
              </a:rPr>
              <a:t>Intelligent Analytics: </a:t>
            </a:r>
            <a:r>
              <a:rPr lang="en-US" sz="2600" dirty="0" smtClean="0">
                <a:solidFill>
                  <a:schemeClr val="bg1"/>
                </a:solidFill>
              </a:rPr>
              <a:t>It can identify and track objects, </a:t>
            </a:r>
            <a:r>
              <a:rPr lang="en-US" sz="2600" dirty="0" err="1" smtClean="0">
                <a:solidFill>
                  <a:schemeClr val="bg1"/>
                </a:solidFill>
              </a:rPr>
              <a:t>recognise</a:t>
            </a:r>
            <a:r>
              <a:rPr lang="en-US" sz="2600" dirty="0" smtClean="0">
                <a:solidFill>
                  <a:schemeClr val="bg1"/>
                </a:solidFill>
              </a:rPr>
              <a:t> faces,       </a:t>
            </a:r>
          </a:p>
          <a:p>
            <a:r>
              <a:rPr lang="en-US" sz="2600" dirty="0" smtClean="0">
                <a:solidFill>
                  <a:schemeClr val="bg1"/>
                </a:solidFill>
              </a:rPr>
              <a:t>                                        and </a:t>
            </a:r>
            <a:r>
              <a:rPr lang="en-US" sz="2600" dirty="0" err="1" smtClean="0">
                <a:solidFill>
                  <a:schemeClr val="bg1"/>
                </a:solidFill>
              </a:rPr>
              <a:t>analyse</a:t>
            </a:r>
            <a:r>
              <a:rPr lang="en-US" sz="2600" dirty="0" smtClean="0">
                <a:solidFill>
                  <a:schemeClr val="bg1"/>
                </a:solidFill>
              </a:rPr>
              <a:t> data.</a:t>
            </a:r>
          </a:p>
          <a:p>
            <a:endParaRPr lang="en-US" sz="2600" dirty="0" smtClean="0">
              <a:solidFill>
                <a:schemeClr val="bg1"/>
              </a:solidFill>
            </a:endParaRPr>
          </a:p>
          <a:p>
            <a:pPr>
              <a:buFont typeface="Wingdings" pitchFamily="2" charset="2"/>
              <a:buChar char="Ø"/>
            </a:pPr>
            <a:r>
              <a:rPr lang="en-US" sz="2600" dirty="0" smtClean="0">
                <a:solidFill>
                  <a:schemeClr val="bg1"/>
                </a:solidFill>
              </a:rPr>
              <a:t> </a:t>
            </a:r>
            <a:r>
              <a:rPr lang="en-US" sz="2600" u="sng" dirty="0" smtClean="0">
                <a:solidFill>
                  <a:schemeClr val="bg1"/>
                </a:solidFill>
              </a:rPr>
              <a:t>Cost-Effectiveness: </a:t>
            </a:r>
            <a:r>
              <a:rPr lang="en-US" sz="2600" dirty="0" smtClean="0">
                <a:solidFill>
                  <a:schemeClr val="bg1"/>
                </a:solidFill>
              </a:rPr>
              <a:t>These cameras can reduce operational costs </a:t>
            </a:r>
          </a:p>
          <a:p>
            <a:endParaRPr lang="en-US" sz="2600" dirty="0" smtClean="0">
              <a:solidFill>
                <a:schemeClr val="bg1"/>
              </a:solidFill>
            </a:endParaRPr>
          </a:p>
          <a:p>
            <a:endParaRPr lang="en-US" sz="2600" dirty="0" smtClean="0">
              <a:solidFill>
                <a:schemeClr val="bg1"/>
              </a:solidFill>
            </a:endParaRPr>
          </a:p>
          <a:p>
            <a:pPr>
              <a:buFont typeface="Wingdings" pitchFamily="2" charset="2"/>
              <a:buChar char="Ø"/>
            </a:pPr>
            <a:r>
              <a:rPr lang="en-US" sz="2600" u="sng" dirty="0" smtClean="0">
                <a:solidFill>
                  <a:schemeClr val="bg1"/>
                </a:solidFill>
              </a:rPr>
              <a:t>Real-time Response</a:t>
            </a:r>
            <a:r>
              <a:rPr lang="en-US" sz="2600" dirty="0" smtClean="0">
                <a:solidFill>
                  <a:schemeClr val="bg1"/>
                </a:solidFill>
              </a:rPr>
              <a:t>: can respond instantly to events, allowing  for quick   </a:t>
            </a:r>
          </a:p>
          <a:p>
            <a:r>
              <a:rPr lang="en-US" sz="2600" dirty="0" smtClean="0">
                <a:solidFill>
                  <a:schemeClr val="bg1"/>
                </a:solidFill>
              </a:rPr>
              <a:t>                                        actions in critical situations</a:t>
            </a:r>
            <a:endParaRPr lang="en-US" sz="26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p:cNvSpPr/>
          <p:nvPr/>
        </p:nvSpPr>
        <p:spPr>
          <a:xfrm>
            <a:off x="609600" y="762000"/>
            <a:ext cx="10972800" cy="5791200"/>
          </a:xfrm>
          <a:prstGeom prst="rect">
            <a:avLst/>
          </a:prstGeom>
          <a:solidFill>
            <a:schemeClr val="tx2">
              <a:lumMod val="50000"/>
            </a:schemeClr>
          </a:solidFill>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smtClean="0"/>
          </a:p>
          <a:p>
            <a:pPr algn="ctr"/>
            <a:endParaRPr lang="en-US" sz="2400" dirty="0" smtClean="0"/>
          </a:p>
          <a:p>
            <a:pPr algn="ctr"/>
            <a:r>
              <a:rPr lang="en-US" sz="2400" dirty="0" smtClean="0"/>
              <a:t>The smart camera system must accurately detect humans in different environments and lighting conditions. It needs to quickly process detections and alert operators in real-time. Integration with current surveillance setups should be smooth, and the system must prioritize data security to protect privacy. Operators should find the interface easy to use for monitoring and adjusting settings. Clear documentation is essential for setting up, maintaining, and ensuring the system meets legal requirements.</a:t>
            </a:r>
            <a:endParaRPr lang="en-US" sz="2400" dirty="0"/>
          </a:p>
        </p:txBody>
      </p:sp>
      <p:sp>
        <p:nvSpPr>
          <p:cNvPr id="9" name="TextBox 8"/>
          <p:cNvSpPr txBox="1"/>
          <p:nvPr/>
        </p:nvSpPr>
        <p:spPr>
          <a:xfrm>
            <a:off x="1447800" y="990600"/>
            <a:ext cx="5486400" cy="646331"/>
          </a:xfrm>
          <a:prstGeom prst="rect">
            <a:avLst/>
          </a:prstGeom>
          <a:noFill/>
        </p:spPr>
        <p:txBody>
          <a:bodyPr wrap="square" rtlCol="0">
            <a:spAutoFit/>
          </a:bodyPr>
          <a:lstStyle/>
          <a:p>
            <a:r>
              <a:rPr lang="en-US" sz="3600" dirty="0" smtClean="0">
                <a:solidFill>
                  <a:schemeClr val="bg1"/>
                </a:solidFill>
                <a:latin typeface="Artifakt Element Black" pitchFamily="34" charset="0"/>
                <a:ea typeface="Artifakt Element Black" pitchFamily="34" charset="0"/>
                <a:cs typeface="Times New Roman" panose="02020603050405020304" pitchFamily="18" charset="0"/>
              </a:rPr>
              <a:t>Requirements Analysis</a:t>
            </a:r>
            <a:endParaRPr lang="en-US" sz="3600" dirty="0">
              <a:latin typeface="Artifakt Element Black" pitchFamily="34" charset="0"/>
              <a:ea typeface="Artifakt Element Black" pitchFamily="34" charset="0"/>
            </a:endParaRPr>
          </a:p>
        </p:txBody>
      </p:sp>
    </p:spTree>
  </p:cSld>
  <p:clrMapOvr>
    <a:masterClrMapping/>
  </p:clrMapOvr>
  <p:transition>
    <p:wipe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81400" y="533400"/>
            <a:ext cx="4085070" cy="566822"/>
          </a:xfrm>
          <a:prstGeom prst="rect">
            <a:avLst/>
          </a:prstGeom>
        </p:spPr>
        <p:txBody>
          <a:bodyPr vert="horz" wrap="square" lIns="0" tIns="12700" rIns="0" bIns="0" rtlCol="0">
            <a:spAutoFit/>
          </a:bodyPr>
          <a:lstStyle/>
          <a:p>
            <a:pPr marL="12700">
              <a:lnSpc>
                <a:spcPct val="100000"/>
              </a:lnSpc>
              <a:spcBef>
                <a:spcPts val="100"/>
              </a:spcBef>
              <a:tabLst>
                <a:tab pos="605155" algn="l"/>
              </a:tabLst>
            </a:pPr>
            <a:r>
              <a:rPr lang="en-US" sz="3600" dirty="0" smtClean="0">
                <a:solidFill>
                  <a:schemeClr val="bg1"/>
                </a:solidFill>
                <a:latin typeface="Artifakt Element Black" pitchFamily="34" charset="0"/>
                <a:ea typeface="Artifakt Element Black" pitchFamily="34" charset="0"/>
                <a:cs typeface="Arial"/>
              </a:rPr>
              <a:t>REQUIREMENTS</a:t>
            </a:r>
            <a:endParaRPr sz="3600">
              <a:solidFill>
                <a:schemeClr val="bg1"/>
              </a:solidFill>
              <a:latin typeface="Artifakt Element Black" pitchFamily="34" charset="0"/>
              <a:ea typeface="Artifakt Element Black" pitchFamily="34" charset="0"/>
              <a:cs typeface="Arial"/>
            </a:endParaRPr>
          </a:p>
        </p:txBody>
      </p:sp>
      <p:sp>
        <p:nvSpPr>
          <p:cNvPr id="7" name="Content Placeholder 6"/>
          <p:cNvSpPr>
            <a:spLocks noGrp="1"/>
          </p:cNvSpPr>
          <p:nvPr>
            <p:ph sz="half" idx="2"/>
          </p:nvPr>
        </p:nvSpPr>
        <p:spPr>
          <a:xfrm>
            <a:off x="609600" y="1524000"/>
            <a:ext cx="5334000" cy="4579620"/>
          </a:xfrm>
        </p:spPr>
        <p:txBody>
          <a:bodyPr/>
          <a:lstStyle/>
          <a:p>
            <a:endParaRPr lang="en-US" dirty="0"/>
          </a:p>
        </p:txBody>
      </p:sp>
      <p:sp>
        <p:nvSpPr>
          <p:cNvPr id="8" name="Content Placeholder 7"/>
          <p:cNvSpPr>
            <a:spLocks noGrp="1"/>
          </p:cNvSpPr>
          <p:nvPr>
            <p:ph sz="half" idx="3"/>
          </p:nvPr>
        </p:nvSpPr>
        <p:spPr/>
        <p:txBody>
          <a:bodyPr/>
          <a:lstStyle/>
          <a:p>
            <a:endParaRPr lang="en-US" dirty="0"/>
          </a:p>
        </p:txBody>
      </p:sp>
      <p:sp>
        <p:nvSpPr>
          <p:cNvPr id="14" name="Rectangle 13"/>
          <p:cNvSpPr/>
          <p:nvPr/>
        </p:nvSpPr>
        <p:spPr>
          <a:xfrm>
            <a:off x="609600" y="1524000"/>
            <a:ext cx="5334000" cy="4572000"/>
          </a:xfrm>
          <a:prstGeom prst="rect">
            <a:avLst/>
          </a:prstGeom>
          <a:solidFill>
            <a:schemeClr val="tx2">
              <a:lumMod val="50000"/>
            </a:schemeClr>
          </a:solidFill>
          <a:ln>
            <a:no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248400" y="1524000"/>
            <a:ext cx="5334000" cy="4572000"/>
          </a:xfrm>
          <a:prstGeom prst="rect">
            <a:avLst/>
          </a:prstGeom>
          <a:solidFill>
            <a:schemeClr val="tx2">
              <a:lumMod val="50000"/>
            </a:schemeClr>
          </a:solidFill>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1143000" y="1676400"/>
            <a:ext cx="2743200" cy="523220"/>
          </a:xfrm>
          <a:prstGeom prst="rect">
            <a:avLst/>
          </a:prstGeom>
          <a:noFill/>
        </p:spPr>
        <p:txBody>
          <a:bodyPr wrap="square" rtlCol="0">
            <a:spAutoFit/>
          </a:bodyPr>
          <a:lstStyle/>
          <a:p>
            <a:r>
              <a:rPr lang="en-US" sz="2800" dirty="0" smtClean="0">
                <a:solidFill>
                  <a:schemeClr val="bg1"/>
                </a:solidFill>
                <a:latin typeface="Artifakt Element Black" pitchFamily="34" charset="0"/>
                <a:ea typeface="Artifakt Element Black" pitchFamily="34" charset="0"/>
              </a:rPr>
              <a:t>HARDWARE </a:t>
            </a:r>
            <a:endParaRPr lang="en-US" sz="2800" dirty="0">
              <a:solidFill>
                <a:schemeClr val="bg1"/>
              </a:solidFill>
              <a:latin typeface="Artifakt Element Black" pitchFamily="34" charset="0"/>
              <a:ea typeface="Artifakt Element Black" pitchFamily="34" charset="0"/>
            </a:endParaRPr>
          </a:p>
        </p:txBody>
      </p:sp>
      <p:sp>
        <p:nvSpPr>
          <p:cNvPr id="17" name="TextBox 16"/>
          <p:cNvSpPr txBox="1"/>
          <p:nvPr/>
        </p:nvSpPr>
        <p:spPr>
          <a:xfrm>
            <a:off x="6934200" y="1828800"/>
            <a:ext cx="3048000" cy="523220"/>
          </a:xfrm>
          <a:prstGeom prst="rect">
            <a:avLst/>
          </a:prstGeom>
          <a:noFill/>
        </p:spPr>
        <p:txBody>
          <a:bodyPr wrap="square" rtlCol="0">
            <a:spAutoFit/>
          </a:bodyPr>
          <a:lstStyle/>
          <a:p>
            <a:r>
              <a:rPr lang="en-US" sz="2800" dirty="0" smtClean="0">
                <a:solidFill>
                  <a:schemeClr val="bg1"/>
                </a:solidFill>
                <a:latin typeface="Artifakt Element Black" pitchFamily="34" charset="0"/>
                <a:ea typeface="Artifakt Element Black" pitchFamily="34" charset="0"/>
              </a:rPr>
              <a:t>SOFTWARE</a:t>
            </a:r>
            <a:endParaRPr lang="en-US" sz="2800" dirty="0">
              <a:solidFill>
                <a:schemeClr val="bg1"/>
              </a:solidFill>
              <a:latin typeface="Artifakt Element Black" pitchFamily="34" charset="0"/>
              <a:ea typeface="Artifakt Element Black" pitchFamily="34" charset="0"/>
            </a:endParaRPr>
          </a:p>
        </p:txBody>
      </p:sp>
      <p:sp>
        <p:nvSpPr>
          <p:cNvPr id="18" name="TextBox 17"/>
          <p:cNvSpPr txBox="1"/>
          <p:nvPr/>
        </p:nvSpPr>
        <p:spPr>
          <a:xfrm>
            <a:off x="-762000" y="2667000"/>
            <a:ext cx="7696200" cy="2111860"/>
          </a:xfrm>
          <a:prstGeom prst="rect">
            <a:avLst/>
          </a:prstGeom>
          <a:noFill/>
        </p:spPr>
        <p:txBody>
          <a:bodyPr wrap="square" rtlCol="0">
            <a:spAutoFit/>
          </a:bodyPr>
          <a:lstStyle/>
          <a:p>
            <a:pPr marL="1480820" marR="5080">
              <a:lnSpc>
                <a:spcPct val="226399"/>
              </a:lnSpc>
              <a:spcBef>
                <a:spcPts val="120"/>
              </a:spcBef>
              <a:buFont typeface="Arial" pitchFamily="34" charset="0"/>
              <a:buChar char="•"/>
            </a:pPr>
            <a:r>
              <a:rPr lang="en-US" sz="2000" spc="-5" dirty="0" smtClean="0">
                <a:solidFill>
                  <a:schemeClr val="bg1"/>
                </a:solidFill>
                <a:latin typeface="Arial MT"/>
                <a:cs typeface="Arial MT"/>
              </a:rPr>
              <a:t>Lapto</a:t>
            </a:r>
            <a:r>
              <a:rPr lang="en-US" sz="2000" dirty="0" smtClean="0">
                <a:solidFill>
                  <a:schemeClr val="bg1"/>
                </a:solidFill>
                <a:latin typeface="Arial MT"/>
                <a:cs typeface="Arial MT"/>
              </a:rPr>
              <a:t>p</a:t>
            </a:r>
            <a:r>
              <a:rPr lang="en-US" sz="2000" spc="-165" dirty="0" smtClean="0">
                <a:solidFill>
                  <a:schemeClr val="bg1"/>
                </a:solidFill>
                <a:latin typeface="Arial MT"/>
                <a:cs typeface="Arial MT"/>
              </a:rPr>
              <a:t> </a:t>
            </a:r>
            <a:r>
              <a:rPr lang="en-US" sz="2000" dirty="0" smtClean="0">
                <a:solidFill>
                  <a:schemeClr val="bg1"/>
                </a:solidFill>
                <a:latin typeface="Arial MT"/>
                <a:cs typeface="Arial MT"/>
              </a:rPr>
              <a:t>wi</a:t>
            </a:r>
            <a:r>
              <a:rPr lang="en-US" sz="2000" spc="-5" dirty="0" smtClean="0">
                <a:solidFill>
                  <a:schemeClr val="bg1"/>
                </a:solidFill>
                <a:latin typeface="Arial MT"/>
                <a:cs typeface="Arial MT"/>
              </a:rPr>
              <a:t>t</a:t>
            </a:r>
            <a:r>
              <a:rPr lang="en-US" sz="2000" dirty="0" smtClean="0">
                <a:solidFill>
                  <a:schemeClr val="bg1"/>
                </a:solidFill>
                <a:latin typeface="Arial MT"/>
                <a:cs typeface="Arial MT"/>
              </a:rPr>
              <a:t>h webcam</a:t>
            </a:r>
            <a:r>
              <a:rPr lang="en-US" sz="2000" spc="-5" dirty="0" smtClean="0">
                <a:solidFill>
                  <a:schemeClr val="bg1"/>
                </a:solidFill>
                <a:latin typeface="Arial MT"/>
                <a:cs typeface="Arial MT"/>
              </a:rPr>
              <a:t> </a:t>
            </a:r>
            <a:r>
              <a:rPr lang="en-US" sz="2000" dirty="0" smtClean="0">
                <a:solidFill>
                  <a:schemeClr val="bg1"/>
                </a:solidFill>
                <a:latin typeface="Arial MT"/>
                <a:cs typeface="Arial MT"/>
              </a:rPr>
              <a:t>/</a:t>
            </a:r>
            <a:r>
              <a:rPr lang="en-US" sz="2000" spc="-5" dirty="0" smtClean="0">
                <a:solidFill>
                  <a:schemeClr val="bg1"/>
                </a:solidFill>
                <a:latin typeface="Arial MT"/>
                <a:cs typeface="Arial MT"/>
              </a:rPr>
              <a:t> </a:t>
            </a:r>
            <a:r>
              <a:rPr lang="en-US" sz="2000" dirty="0" smtClean="0">
                <a:solidFill>
                  <a:schemeClr val="bg1"/>
                </a:solidFill>
                <a:latin typeface="Arial MT"/>
                <a:cs typeface="Arial MT"/>
              </a:rPr>
              <a:t>Desk</a:t>
            </a:r>
            <a:r>
              <a:rPr lang="en-US" sz="2000" spc="-5" dirty="0" smtClean="0">
                <a:solidFill>
                  <a:schemeClr val="bg1"/>
                </a:solidFill>
                <a:latin typeface="Arial MT"/>
                <a:cs typeface="Arial MT"/>
              </a:rPr>
              <a:t>t</a:t>
            </a:r>
            <a:r>
              <a:rPr lang="en-US" sz="2000" dirty="0" smtClean="0">
                <a:solidFill>
                  <a:schemeClr val="bg1"/>
                </a:solidFill>
                <a:latin typeface="Arial MT"/>
                <a:cs typeface="Arial MT"/>
              </a:rPr>
              <a:t>op wi</a:t>
            </a:r>
            <a:r>
              <a:rPr lang="en-US" sz="2000" spc="-5" dirty="0" smtClean="0">
                <a:solidFill>
                  <a:schemeClr val="bg1"/>
                </a:solidFill>
                <a:latin typeface="Arial MT"/>
                <a:cs typeface="Arial MT"/>
              </a:rPr>
              <a:t>th </a:t>
            </a:r>
            <a:r>
              <a:rPr lang="en-US" sz="2000" dirty="0" smtClean="0">
                <a:solidFill>
                  <a:schemeClr val="bg1"/>
                </a:solidFill>
                <a:latin typeface="Arial MT"/>
                <a:cs typeface="Arial MT"/>
              </a:rPr>
              <a:t>camera</a:t>
            </a:r>
          </a:p>
          <a:p>
            <a:pPr marL="1480820" marR="5080">
              <a:lnSpc>
                <a:spcPct val="226399"/>
              </a:lnSpc>
              <a:spcBef>
                <a:spcPts val="120"/>
              </a:spcBef>
              <a:buFont typeface="Arial" pitchFamily="34" charset="0"/>
              <a:buChar char="•"/>
            </a:pPr>
            <a:r>
              <a:rPr lang="en-US" sz="2000" dirty="0" smtClean="0">
                <a:solidFill>
                  <a:schemeClr val="bg1"/>
                </a:solidFill>
                <a:latin typeface="Arial MT"/>
                <a:cs typeface="Arial MT"/>
              </a:rPr>
              <a:t> 2</a:t>
            </a:r>
            <a:r>
              <a:rPr lang="en-US" sz="2000" spc="-5" dirty="0" smtClean="0">
                <a:solidFill>
                  <a:schemeClr val="bg1"/>
                </a:solidFill>
                <a:latin typeface="Arial MT"/>
                <a:cs typeface="Arial MT"/>
              </a:rPr>
              <a:t> GB</a:t>
            </a:r>
            <a:r>
              <a:rPr lang="en-US" sz="2000" dirty="0" smtClean="0">
                <a:solidFill>
                  <a:schemeClr val="bg1"/>
                </a:solidFill>
                <a:latin typeface="Arial MT"/>
                <a:cs typeface="Arial MT"/>
              </a:rPr>
              <a:t> RAM</a:t>
            </a:r>
            <a:r>
              <a:rPr lang="en-US" sz="2000" spc="-5" dirty="0" smtClean="0">
                <a:solidFill>
                  <a:schemeClr val="bg1"/>
                </a:solidFill>
                <a:latin typeface="Arial MT"/>
                <a:cs typeface="Arial MT"/>
              </a:rPr>
              <a:t> </a:t>
            </a:r>
            <a:r>
              <a:rPr lang="en-US" sz="2000" dirty="0" smtClean="0">
                <a:solidFill>
                  <a:schemeClr val="bg1"/>
                </a:solidFill>
                <a:latin typeface="Arial MT"/>
                <a:cs typeface="Arial MT"/>
              </a:rPr>
              <a:t>minimum</a:t>
            </a:r>
          </a:p>
          <a:p>
            <a:pPr>
              <a:lnSpc>
                <a:spcPct val="100000"/>
              </a:lnSpc>
              <a:spcBef>
                <a:spcPts val="20"/>
              </a:spcBef>
            </a:pPr>
            <a:endParaRPr lang="en-US" sz="2000" dirty="0" smtClean="0">
              <a:solidFill>
                <a:schemeClr val="bg1"/>
              </a:solidFill>
              <a:latin typeface="Arial MT"/>
              <a:cs typeface="Arial MT"/>
            </a:endParaRPr>
          </a:p>
          <a:p>
            <a:pPr marL="1395730">
              <a:lnSpc>
                <a:spcPct val="100000"/>
              </a:lnSpc>
              <a:buFont typeface="Arial" pitchFamily="34" charset="0"/>
              <a:buChar char="•"/>
            </a:pPr>
            <a:r>
              <a:rPr lang="en-US" sz="2000" spc="-5" dirty="0" smtClean="0">
                <a:solidFill>
                  <a:schemeClr val="bg1"/>
                </a:solidFill>
                <a:latin typeface="Arial MT"/>
                <a:cs typeface="Arial MT"/>
              </a:rPr>
              <a:t>Storage</a:t>
            </a:r>
            <a:r>
              <a:rPr lang="en-US" sz="2000" dirty="0" smtClean="0">
                <a:solidFill>
                  <a:schemeClr val="bg1"/>
                </a:solidFill>
                <a:latin typeface="Arial MT"/>
                <a:cs typeface="Arial MT"/>
              </a:rPr>
              <a:t> </a:t>
            </a:r>
            <a:r>
              <a:rPr lang="en-US" sz="2000" spc="-5" dirty="0" smtClean="0">
                <a:solidFill>
                  <a:schemeClr val="bg1"/>
                </a:solidFill>
                <a:latin typeface="Arial MT"/>
                <a:cs typeface="Arial MT"/>
              </a:rPr>
              <a:t>internal</a:t>
            </a:r>
            <a:r>
              <a:rPr lang="en-US" sz="2000" dirty="0" smtClean="0">
                <a:solidFill>
                  <a:schemeClr val="bg1"/>
                </a:solidFill>
                <a:latin typeface="Arial MT"/>
                <a:cs typeface="Arial MT"/>
              </a:rPr>
              <a:t> /</a:t>
            </a:r>
            <a:r>
              <a:rPr lang="en-US" sz="2000" spc="-5" dirty="0" smtClean="0">
                <a:solidFill>
                  <a:schemeClr val="bg1"/>
                </a:solidFill>
                <a:latin typeface="Arial MT"/>
                <a:cs typeface="Arial MT"/>
              </a:rPr>
              <a:t> external</a:t>
            </a:r>
            <a:endParaRPr lang="en-US" sz="2000" dirty="0"/>
          </a:p>
        </p:txBody>
      </p:sp>
      <p:sp>
        <p:nvSpPr>
          <p:cNvPr id="19" name="TextBox 18"/>
          <p:cNvSpPr txBox="1"/>
          <p:nvPr/>
        </p:nvSpPr>
        <p:spPr>
          <a:xfrm>
            <a:off x="6934200" y="2971800"/>
            <a:ext cx="3581400" cy="2153154"/>
          </a:xfrm>
          <a:prstGeom prst="rect">
            <a:avLst/>
          </a:prstGeom>
          <a:noFill/>
        </p:spPr>
        <p:txBody>
          <a:bodyPr wrap="square" rtlCol="0">
            <a:spAutoFit/>
          </a:bodyPr>
          <a:lstStyle/>
          <a:p>
            <a:pPr marL="12700">
              <a:lnSpc>
                <a:spcPct val="100000"/>
              </a:lnSpc>
              <a:spcBef>
                <a:spcPts val="100"/>
              </a:spcBef>
              <a:buFont typeface="Arial" pitchFamily="34" charset="0"/>
              <a:buChar char="•"/>
            </a:pPr>
            <a:r>
              <a:rPr lang="en-US" sz="2400" spc="-5" dirty="0" smtClean="0">
                <a:solidFill>
                  <a:schemeClr val="bg1"/>
                </a:solidFill>
                <a:latin typeface="Arial MT"/>
                <a:cs typeface="Arial MT"/>
              </a:rPr>
              <a:t>Python</a:t>
            </a:r>
            <a:r>
              <a:rPr lang="en-US" sz="2400" spc="-25" dirty="0" smtClean="0">
                <a:solidFill>
                  <a:schemeClr val="bg1"/>
                </a:solidFill>
                <a:latin typeface="Arial MT"/>
                <a:cs typeface="Arial MT"/>
              </a:rPr>
              <a:t> </a:t>
            </a:r>
            <a:r>
              <a:rPr lang="en-US" sz="2400" spc="-5" dirty="0" smtClean="0">
                <a:solidFill>
                  <a:schemeClr val="bg1"/>
                </a:solidFill>
                <a:latin typeface="Arial MT"/>
                <a:cs typeface="Arial MT"/>
              </a:rPr>
              <a:t>3.10.1</a:t>
            </a:r>
            <a:endParaRPr lang="en-US" sz="2400" dirty="0" smtClean="0">
              <a:solidFill>
                <a:schemeClr val="bg1"/>
              </a:solidFill>
              <a:latin typeface="Arial MT"/>
              <a:cs typeface="Arial MT"/>
            </a:endParaRPr>
          </a:p>
          <a:p>
            <a:pPr marL="12700" marR="5080">
              <a:lnSpc>
                <a:spcPct val="179200"/>
              </a:lnSpc>
              <a:buFont typeface="Arial" pitchFamily="34" charset="0"/>
              <a:buChar char="•"/>
            </a:pPr>
            <a:r>
              <a:rPr lang="en-US" sz="2400" spc="-10" dirty="0" smtClean="0">
                <a:solidFill>
                  <a:schemeClr val="bg1"/>
                </a:solidFill>
                <a:latin typeface="Arial MT"/>
                <a:cs typeface="Arial MT"/>
              </a:rPr>
              <a:t>Visual</a:t>
            </a:r>
            <a:r>
              <a:rPr lang="en-US" sz="2400" spc="-30" dirty="0" smtClean="0">
                <a:solidFill>
                  <a:schemeClr val="bg1"/>
                </a:solidFill>
                <a:latin typeface="Arial MT"/>
                <a:cs typeface="Arial MT"/>
              </a:rPr>
              <a:t> </a:t>
            </a:r>
            <a:r>
              <a:rPr lang="en-US" sz="2400" spc="-5" dirty="0" smtClean="0">
                <a:solidFill>
                  <a:schemeClr val="bg1"/>
                </a:solidFill>
                <a:latin typeface="Arial MT"/>
                <a:cs typeface="Arial MT"/>
              </a:rPr>
              <a:t>studio</a:t>
            </a:r>
            <a:r>
              <a:rPr lang="en-US" sz="2400" spc="-30" dirty="0" smtClean="0">
                <a:solidFill>
                  <a:schemeClr val="bg1"/>
                </a:solidFill>
                <a:latin typeface="Arial MT"/>
                <a:cs typeface="Arial MT"/>
              </a:rPr>
              <a:t> </a:t>
            </a:r>
            <a:r>
              <a:rPr lang="en-US" sz="2400" dirty="0" smtClean="0">
                <a:solidFill>
                  <a:schemeClr val="bg1"/>
                </a:solidFill>
                <a:latin typeface="Arial MT"/>
                <a:cs typeface="Arial MT"/>
              </a:rPr>
              <a:t>code </a:t>
            </a:r>
            <a:r>
              <a:rPr lang="en-US" sz="2400" spc="-655" dirty="0" smtClean="0">
                <a:solidFill>
                  <a:schemeClr val="bg1"/>
                </a:solidFill>
                <a:latin typeface="Arial MT"/>
                <a:cs typeface="Arial MT"/>
              </a:rPr>
              <a:t> </a:t>
            </a:r>
          </a:p>
          <a:p>
            <a:pPr marL="12700" marR="5080">
              <a:lnSpc>
                <a:spcPct val="179200"/>
              </a:lnSpc>
              <a:buFont typeface="Arial" pitchFamily="34" charset="0"/>
              <a:buChar char="•"/>
            </a:pPr>
            <a:r>
              <a:rPr lang="en-US" sz="2400" spc="-5" dirty="0" err="1" smtClean="0">
                <a:solidFill>
                  <a:schemeClr val="bg1"/>
                </a:solidFill>
                <a:latin typeface="Arial MT"/>
                <a:cs typeface="Arial MT"/>
              </a:rPr>
              <a:t>OpenCV</a:t>
            </a:r>
            <a:r>
              <a:rPr lang="en-US" sz="2400" spc="-10" dirty="0" smtClean="0">
                <a:solidFill>
                  <a:schemeClr val="bg1"/>
                </a:solidFill>
                <a:latin typeface="Arial MT"/>
                <a:cs typeface="Arial MT"/>
              </a:rPr>
              <a:t> </a:t>
            </a:r>
            <a:r>
              <a:rPr lang="en-US" sz="2400" spc="-5" dirty="0" smtClean="0">
                <a:solidFill>
                  <a:schemeClr val="bg1"/>
                </a:solidFill>
                <a:latin typeface="Arial MT"/>
                <a:cs typeface="Arial MT"/>
              </a:rPr>
              <a:t>4.5.4</a:t>
            </a:r>
            <a:endParaRPr lang="en-US" sz="2400" dirty="0" smtClean="0">
              <a:solidFill>
                <a:schemeClr val="bg1"/>
              </a:solidFill>
              <a:latin typeface="Arial MT"/>
              <a:cs typeface="Arial MT"/>
            </a:endParaRPr>
          </a:p>
          <a:p>
            <a:endParaRPr lang="en-US" sz="2400" dirty="0">
              <a:solidFill>
                <a:schemeClr val="bg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p:cNvPicPr/>
          <p:nvPr/>
        </p:nvPicPr>
        <p:blipFill>
          <a:blip r:embed="rId2" cstate="print"/>
          <a:stretch>
            <a:fillRect/>
          </a:stretch>
        </p:blipFill>
        <p:spPr>
          <a:xfrm>
            <a:off x="1447800" y="1676400"/>
            <a:ext cx="9144000" cy="4495800"/>
          </a:xfrm>
          <a:prstGeom prst="rect">
            <a:avLst/>
          </a:prstGeom>
        </p:spPr>
      </p:pic>
      <p:sp>
        <p:nvSpPr>
          <p:cNvPr id="3" name="TextBox 2"/>
          <p:cNvSpPr txBox="1"/>
          <p:nvPr/>
        </p:nvSpPr>
        <p:spPr>
          <a:xfrm>
            <a:off x="1981200" y="457200"/>
            <a:ext cx="5257800" cy="646331"/>
          </a:xfrm>
          <a:prstGeom prst="rect">
            <a:avLst/>
          </a:prstGeom>
          <a:noFill/>
        </p:spPr>
        <p:txBody>
          <a:bodyPr wrap="square" rtlCol="0">
            <a:spAutoFit/>
          </a:bodyPr>
          <a:lstStyle/>
          <a:p>
            <a:r>
              <a:rPr lang="en-US" sz="3600" dirty="0" smtClean="0">
                <a:solidFill>
                  <a:schemeClr val="bg1">
                    <a:lumMod val="95000"/>
                  </a:schemeClr>
                </a:solidFill>
                <a:latin typeface="Artifakt Element Black" pitchFamily="34" charset="0"/>
                <a:ea typeface="Artifakt Element Black" pitchFamily="34" charset="0"/>
              </a:rPr>
              <a:t>DESIGN :FLOW CHART</a:t>
            </a:r>
            <a:endParaRPr lang="en-US" sz="3600" dirty="0">
              <a:solidFill>
                <a:schemeClr val="bg1">
                  <a:lumMod val="95000"/>
                </a:schemeClr>
              </a:solidFill>
              <a:latin typeface="Artifakt Element Black" pitchFamily="34" charset="0"/>
              <a:ea typeface="Artifakt Element Black"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066800"/>
            <a:ext cx="8001000" cy="5632311"/>
          </a:xfrm>
          <a:prstGeom prst="rect">
            <a:avLst/>
          </a:prstGeom>
          <a:noFill/>
        </p:spPr>
        <p:txBody>
          <a:bodyPr wrap="square" rtlCol="0">
            <a:spAutoFit/>
          </a:bodyPr>
          <a:lstStyle/>
          <a:p>
            <a:pPr>
              <a:lnSpc>
                <a:spcPct val="150000"/>
              </a:lnSpc>
            </a:pPr>
            <a:r>
              <a:rPr lang="en-US" sz="2000" dirty="0" smtClean="0">
                <a:solidFill>
                  <a:schemeClr val="bg1"/>
                </a:solidFill>
              </a:rPr>
              <a:t>1. Set up the camera. </a:t>
            </a:r>
          </a:p>
          <a:p>
            <a:pPr>
              <a:lnSpc>
                <a:spcPct val="150000"/>
              </a:lnSpc>
            </a:pPr>
            <a:r>
              <a:rPr lang="en-US" sz="2000" dirty="0" smtClean="0">
                <a:solidFill>
                  <a:schemeClr val="bg1"/>
                </a:solidFill>
              </a:rPr>
              <a:t>2. Include </a:t>
            </a:r>
            <a:r>
              <a:rPr lang="en-US" sz="2000" dirty="0" err="1" smtClean="0">
                <a:solidFill>
                  <a:schemeClr val="bg1"/>
                </a:solidFill>
              </a:rPr>
              <a:t>Haar</a:t>
            </a:r>
            <a:r>
              <a:rPr lang="en-US" sz="2000" dirty="0" smtClean="0">
                <a:solidFill>
                  <a:schemeClr val="bg1"/>
                </a:solidFill>
              </a:rPr>
              <a:t> Cascade facial and body XML files.</a:t>
            </a:r>
          </a:p>
          <a:p>
            <a:pPr>
              <a:lnSpc>
                <a:spcPct val="150000"/>
              </a:lnSpc>
            </a:pPr>
            <a:r>
              <a:rPr lang="en-US" sz="2000" dirty="0" smtClean="0">
                <a:solidFill>
                  <a:schemeClr val="bg1"/>
                </a:solidFill>
              </a:rPr>
              <a:t> 3. Take the frames of the input video and covert into </a:t>
            </a:r>
          </a:p>
          <a:p>
            <a:pPr>
              <a:lnSpc>
                <a:spcPct val="150000"/>
              </a:lnSpc>
            </a:pPr>
            <a:r>
              <a:rPr lang="en-US" sz="2000" dirty="0" smtClean="0">
                <a:solidFill>
                  <a:schemeClr val="bg1"/>
                </a:solidFill>
              </a:rPr>
              <a:t>    gray scale.</a:t>
            </a:r>
          </a:p>
          <a:p>
            <a:pPr>
              <a:lnSpc>
                <a:spcPct val="150000"/>
              </a:lnSpc>
            </a:pPr>
            <a:r>
              <a:rPr lang="en-US" sz="2000" dirty="0" smtClean="0">
                <a:solidFill>
                  <a:schemeClr val="bg1"/>
                </a:solidFill>
              </a:rPr>
              <a:t> 4. If any body or face is detected in the frame </a:t>
            </a:r>
          </a:p>
          <a:p>
            <a:pPr>
              <a:lnSpc>
                <a:spcPct val="150000"/>
              </a:lnSpc>
            </a:pPr>
            <a:r>
              <a:rPr lang="en-US" sz="2000" dirty="0" smtClean="0">
                <a:solidFill>
                  <a:schemeClr val="bg1"/>
                </a:solidFill>
              </a:rPr>
              <a:t>5. Then set detection as true </a:t>
            </a:r>
          </a:p>
          <a:p>
            <a:pPr>
              <a:lnSpc>
                <a:spcPct val="150000"/>
              </a:lnSpc>
            </a:pPr>
            <a:r>
              <a:rPr lang="en-US" sz="2000" dirty="0" smtClean="0">
                <a:solidFill>
                  <a:schemeClr val="bg1"/>
                </a:solidFill>
              </a:rPr>
              <a:t>6. Start recording the video with file name as date and time. </a:t>
            </a:r>
          </a:p>
          <a:p>
            <a:pPr>
              <a:lnSpc>
                <a:spcPct val="150000"/>
              </a:lnSpc>
            </a:pPr>
            <a:r>
              <a:rPr lang="en-US" sz="2000" dirty="0" smtClean="0">
                <a:solidFill>
                  <a:schemeClr val="bg1"/>
                </a:solidFill>
              </a:rPr>
              <a:t>7. Print start recording </a:t>
            </a:r>
          </a:p>
          <a:p>
            <a:pPr>
              <a:lnSpc>
                <a:spcPct val="150000"/>
              </a:lnSpc>
            </a:pPr>
            <a:r>
              <a:rPr lang="en-US" sz="2000" dirty="0" smtClean="0">
                <a:solidFill>
                  <a:schemeClr val="bg1"/>
                </a:solidFill>
              </a:rPr>
              <a:t>8. If detection is false wait for 5 seconds and </a:t>
            </a:r>
          </a:p>
          <a:p>
            <a:pPr>
              <a:lnSpc>
                <a:spcPct val="150000"/>
              </a:lnSpc>
            </a:pPr>
            <a:r>
              <a:rPr lang="en-US" sz="2000" dirty="0" smtClean="0">
                <a:solidFill>
                  <a:schemeClr val="bg1"/>
                </a:solidFill>
              </a:rPr>
              <a:t>  stop the recording </a:t>
            </a:r>
          </a:p>
          <a:p>
            <a:pPr>
              <a:lnSpc>
                <a:spcPct val="150000"/>
              </a:lnSpc>
            </a:pPr>
            <a:r>
              <a:rPr lang="en-US" sz="2000" dirty="0" smtClean="0">
                <a:solidFill>
                  <a:schemeClr val="bg1"/>
                </a:solidFill>
              </a:rPr>
              <a:t>9. Print Recording stopped ! </a:t>
            </a:r>
          </a:p>
          <a:p>
            <a:pPr>
              <a:lnSpc>
                <a:spcPct val="150000"/>
              </a:lnSpc>
            </a:pPr>
            <a:r>
              <a:rPr lang="en-US" sz="2000" dirty="0" smtClean="0">
                <a:solidFill>
                  <a:schemeClr val="bg1"/>
                </a:solidFill>
              </a:rPr>
              <a:t>10. Go to step 4 until ‘q’ is pressed</a:t>
            </a:r>
            <a:endParaRPr lang="en-US" sz="2000" dirty="0">
              <a:solidFill>
                <a:schemeClr val="bg1"/>
              </a:solidFill>
            </a:endParaRPr>
          </a:p>
        </p:txBody>
      </p:sp>
      <p:sp>
        <p:nvSpPr>
          <p:cNvPr id="3" name="TextBox 2"/>
          <p:cNvSpPr txBox="1"/>
          <p:nvPr/>
        </p:nvSpPr>
        <p:spPr>
          <a:xfrm>
            <a:off x="2514600" y="381000"/>
            <a:ext cx="8686800" cy="646331"/>
          </a:xfrm>
          <a:prstGeom prst="rect">
            <a:avLst/>
          </a:prstGeom>
          <a:noFill/>
        </p:spPr>
        <p:txBody>
          <a:bodyPr wrap="square" rtlCol="0">
            <a:spAutoFit/>
          </a:bodyPr>
          <a:lstStyle/>
          <a:p>
            <a:r>
              <a:rPr lang="en-US" sz="3600" dirty="0" smtClean="0">
                <a:solidFill>
                  <a:schemeClr val="bg1">
                    <a:lumMod val="95000"/>
                  </a:schemeClr>
                </a:solidFill>
                <a:latin typeface="Artifakt Element Black" pitchFamily="34" charset="0"/>
                <a:ea typeface="Artifakt Element Black" pitchFamily="34" charset="0"/>
              </a:rPr>
              <a:t>IMPLEMENTATION : ALGORITHM</a:t>
            </a:r>
            <a:endParaRPr lang="en-US" sz="3600" dirty="0">
              <a:solidFill>
                <a:schemeClr val="bg1">
                  <a:lumMod val="95000"/>
                </a:schemeClr>
              </a:solidFill>
              <a:latin typeface="Artifakt Element Black" pitchFamily="34" charset="0"/>
              <a:ea typeface="Artifakt Element Black"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533400"/>
            <a:ext cx="10972800" cy="6019800"/>
          </a:xfrm>
          <a:prstGeom prst="rect">
            <a:avLst/>
          </a:prstGeom>
          <a:solidFill>
            <a:schemeClr val="tx2">
              <a:lumMod val="50000"/>
            </a:schemeClr>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524000" y="2514600"/>
            <a:ext cx="9296400" cy="3108543"/>
          </a:xfrm>
          <a:prstGeom prst="rect">
            <a:avLst/>
          </a:prstGeom>
          <a:noFill/>
        </p:spPr>
        <p:txBody>
          <a:bodyPr wrap="square" rtlCol="0">
            <a:spAutoFit/>
          </a:bodyPr>
          <a:lstStyle/>
          <a:p>
            <a:pPr algn="just"/>
            <a:r>
              <a:rPr lang="en-US" sz="2800" dirty="0" smtClean="0">
                <a:solidFill>
                  <a:schemeClr val="bg1">
                    <a:lumMod val="95000"/>
                  </a:schemeClr>
                </a:solidFill>
              </a:rPr>
              <a:t>A feasibility study on human detection using smart cameras examines if it's practical and possible. These cameras use advanced technology to spot people accurately. They can help in various places like homes, offices, and public areas. The study checks if these cameras are reliable and cost-effective. It looks into how well they can improve safety and security.</a:t>
            </a:r>
          </a:p>
          <a:p>
            <a:pPr algn="just"/>
            <a:endParaRPr lang="en-US" sz="2800" dirty="0"/>
          </a:p>
        </p:txBody>
      </p:sp>
      <p:sp>
        <p:nvSpPr>
          <p:cNvPr id="6" name="TextBox 5"/>
          <p:cNvSpPr txBox="1"/>
          <p:nvPr/>
        </p:nvSpPr>
        <p:spPr>
          <a:xfrm>
            <a:off x="1752600" y="1143000"/>
            <a:ext cx="7772400" cy="646331"/>
          </a:xfrm>
          <a:prstGeom prst="rect">
            <a:avLst/>
          </a:prstGeom>
          <a:noFill/>
        </p:spPr>
        <p:txBody>
          <a:bodyPr wrap="square" rtlCol="0">
            <a:spAutoFit/>
          </a:bodyPr>
          <a:lstStyle/>
          <a:p>
            <a:r>
              <a:rPr lang="en-US" sz="3600" dirty="0" smtClean="0">
                <a:solidFill>
                  <a:schemeClr val="bg1"/>
                </a:solidFill>
                <a:latin typeface="Artifakt Element Black" pitchFamily="34" charset="0"/>
                <a:ea typeface="Artifakt Element Black" pitchFamily="34" charset="0"/>
                <a:cs typeface="Times New Roman" panose="02020603050405020304" pitchFamily="18" charset="0"/>
              </a:rPr>
              <a:t>Feasibility Study</a:t>
            </a:r>
            <a:endParaRPr lang="en-US" sz="36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09600" y="381000"/>
            <a:ext cx="11201400" cy="6019800"/>
          </a:xfrm>
          <a:prstGeom prst="rect">
            <a:avLst/>
          </a:prstGeom>
          <a:solidFill>
            <a:schemeClr val="tx2">
              <a:lumMod val="50000"/>
            </a:schemeClr>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447800" y="609600"/>
            <a:ext cx="3657600" cy="584775"/>
          </a:xfrm>
          <a:prstGeom prst="rect">
            <a:avLst/>
          </a:prstGeom>
          <a:noFill/>
        </p:spPr>
        <p:txBody>
          <a:bodyPr wrap="square" rtlCol="0">
            <a:spAutoFit/>
          </a:bodyPr>
          <a:lstStyle/>
          <a:p>
            <a:r>
              <a:rPr lang="en-US" sz="3200" dirty="0" smtClean="0">
                <a:solidFill>
                  <a:schemeClr val="bg1">
                    <a:lumMod val="95000"/>
                  </a:schemeClr>
                </a:solidFill>
                <a:latin typeface="Artifakt Element Black" pitchFamily="34" charset="0"/>
                <a:ea typeface="Artifakt Element Black" pitchFamily="34" charset="0"/>
              </a:rPr>
              <a:t>OUTPUT</a:t>
            </a:r>
            <a:endParaRPr lang="en-US" sz="3200" dirty="0">
              <a:solidFill>
                <a:schemeClr val="bg1">
                  <a:lumMod val="95000"/>
                </a:schemeClr>
              </a:solidFill>
              <a:latin typeface="Artifakt Element Black" pitchFamily="34" charset="0"/>
              <a:ea typeface="Artifakt Element Black" pitchFamily="34" charset="0"/>
            </a:endParaRPr>
          </a:p>
        </p:txBody>
      </p:sp>
      <p:pic>
        <p:nvPicPr>
          <p:cNvPr id="11" name="image4.jpeg"/>
          <p:cNvPicPr/>
          <p:nvPr/>
        </p:nvPicPr>
        <p:blipFill>
          <a:blip r:embed="rId2" cstate="print"/>
          <a:stretch>
            <a:fillRect/>
          </a:stretch>
        </p:blipFill>
        <p:spPr>
          <a:xfrm>
            <a:off x="3200400" y="1371600"/>
            <a:ext cx="5769032" cy="3358341"/>
          </a:xfrm>
          <a:prstGeom prst="rect">
            <a:avLst/>
          </a:prstGeom>
        </p:spPr>
      </p:pic>
      <p:sp>
        <p:nvSpPr>
          <p:cNvPr id="12" name="TextBox 11"/>
          <p:cNvSpPr txBox="1"/>
          <p:nvPr/>
        </p:nvSpPr>
        <p:spPr>
          <a:xfrm>
            <a:off x="1371600" y="5181600"/>
            <a:ext cx="9982200" cy="954107"/>
          </a:xfrm>
          <a:prstGeom prst="rect">
            <a:avLst/>
          </a:prstGeom>
          <a:noFill/>
        </p:spPr>
        <p:txBody>
          <a:bodyPr wrap="square" rtlCol="0">
            <a:spAutoFit/>
          </a:bodyPr>
          <a:lstStyle/>
          <a:p>
            <a:pPr marL="457200" indent="-457200" algn="ctr"/>
            <a:r>
              <a:rPr lang="en-US" sz="2800" b="1" dirty="0" smtClean="0">
                <a:solidFill>
                  <a:schemeClr val="bg1"/>
                </a:solidFill>
              </a:rPr>
              <a:t> </a:t>
            </a:r>
            <a:r>
              <a:rPr lang="en-US" sz="2800" dirty="0" smtClean="0">
                <a:solidFill>
                  <a:schemeClr val="bg1"/>
                </a:solidFill>
              </a:rPr>
              <a:t>Person is detected when he is </a:t>
            </a:r>
            <a:r>
              <a:rPr lang="en-US" sz="2800" dirty="0" err="1" smtClean="0">
                <a:solidFill>
                  <a:schemeClr val="bg1"/>
                </a:solidFill>
              </a:rPr>
              <a:t>infront</a:t>
            </a:r>
            <a:r>
              <a:rPr lang="en-US" sz="2800" dirty="0" smtClean="0">
                <a:solidFill>
                  <a:schemeClr val="bg1"/>
                </a:solidFill>
              </a:rPr>
              <a:t> of smart camera. You can see the recording has been stored with date and time</a:t>
            </a:r>
            <a:endParaRPr lang="en-US" sz="2800" dirty="0">
              <a:solidFill>
                <a:schemeClr val="bg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457200"/>
            <a:ext cx="11125200" cy="5867400"/>
          </a:xfrm>
          <a:prstGeom prst="rect">
            <a:avLst/>
          </a:prstGeom>
          <a:solidFill>
            <a:schemeClr val="tx2">
              <a:lumMod val="50000"/>
            </a:schemeClr>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5.jpeg"/>
          <p:cNvPicPr/>
          <p:nvPr/>
        </p:nvPicPr>
        <p:blipFill>
          <a:blip r:embed="rId2" cstate="print"/>
          <a:stretch>
            <a:fillRect/>
          </a:stretch>
        </p:blipFill>
        <p:spPr>
          <a:xfrm>
            <a:off x="2971800" y="762000"/>
            <a:ext cx="5788700" cy="3252215"/>
          </a:xfrm>
          <a:prstGeom prst="rect">
            <a:avLst/>
          </a:prstGeom>
        </p:spPr>
      </p:pic>
      <p:sp>
        <p:nvSpPr>
          <p:cNvPr id="5" name="TextBox 4"/>
          <p:cNvSpPr txBox="1"/>
          <p:nvPr/>
        </p:nvSpPr>
        <p:spPr>
          <a:xfrm>
            <a:off x="762000" y="4419600"/>
            <a:ext cx="10515600" cy="1815882"/>
          </a:xfrm>
          <a:prstGeom prst="rect">
            <a:avLst/>
          </a:prstGeom>
          <a:noFill/>
        </p:spPr>
        <p:txBody>
          <a:bodyPr wrap="square" rtlCol="0">
            <a:spAutoFit/>
          </a:bodyPr>
          <a:lstStyle/>
          <a:p>
            <a:pPr marL="514350" lvl="0" indent="-514350" algn="ctr"/>
            <a:r>
              <a:rPr lang="en-US" sz="2800" dirty="0" smtClean="0">
                <a:solidFill>
                  <a:schemeClr val="bg1"/>
                </a:solidFill>
              </a:rPr>
              <a:t>    When there is no person the recording has been stopped and   the video is saved in the local folder. We can see a notification saying the recording has been stopped.</a:t>
            </a:r>
          </a:p>
          <a:p>
            <a:endParaRPr lang="en-US" sz="2800" dirty="0">
              <a:solidFill>
                <a:schemeClr val="bg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533400"/>
            <a:ext cx="11049000" cy="5943600"/>
          </a:xfrm>
          <a:prstGeom prst="rect">
            <a:avLst/>
          </a:prstGeom>
          <a:solidFill>
            <a:schemeClr val="tx2">
              <a:lumMod val="50000"/>
            </a:schemeClr>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6.jpeg"/>
          <p:cNvPicPr/>
          <p:nvPr/>
        </p:nvPicPr>
        <p:blipFill>
          <a:blip r:embed="rId2" cstate="print"/>
          <a:stretch>
            <a:fillRect/>
          </a:stretch>
        </p:blipFill>
        <p:spPr>
          <a:xfrm>
            <a:off x="3200400" y="1066800"/>
            <a:ext cx="5700291" cy="3420427"/>
          </a:xfrm>
          <a:prstGeom prst="rect">
            <a:avLst/>
          </a:prstGeom>
        </p:spPr>
      </p:pic>
      <p:sp>
        <p:nvSpPr>
          <p:cNvPr id="4" name="TextBox 3"/>
          <p:cNvSpPr txBox="1"/>
          <p:nvPr/>
        </p:nvSpPr>
        <p:spPr>
          <a:xfrm>
            <a:off x="990600" y="4800600"/>
            <a:ext cx="10744200" cy="1384995"/>
          </a:xfrm>
          <a:prstGeom prst="rect">
            <a:avLst/>
          </a:prstGeom>
          <a:noFill/>
        </p:spPr>
        <p:txBody>
          <a:bodyPr wrap="square" rtlCol="0">
            <a:spAutoFit/>
          </a:bodyPr>
          <a:lstStyle/>
          <a:p>
            <a:pPr marL="457200" indent="-457200" algn="ctr"/>
            <a:r>
              <a:rPr lang="en-US" sz="2800" dirty="0" smtClean="0">
                <a:solidFill>
                  <a:schemeClr val="bg1"/>
                </a:solidFill>
              </a:rPr>
              <a:t> The person face is not there in the camera vision, yet the recording has been started, as we used full body detection the body is getting detected</a:t>
            </a:r>
            <a:endParaRPr lang="en-US" sz="2800" dirty="0">
              <a:solidFill>
                <a:schemeClr val="bg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09600"/>
            <a:ext cx="11125200" cy="5791200"/>
          </a:xfrm>
          <a:prstGeom prst="rect">
            <a:avLst/>
          </a:prstGeom>
          <a:solidFill>
            <a:schemeClr val="tx2">
              <a:lumMod val="50000"/>
            </a:schemeClr>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image7.jpeg"/>
          <p:cNvPicPr/>
          <p:nvPr/>
        </p:nvPicPr>
        <p:blipFill>
          <a:blip r:embed="rId2" cstate="print"/>
          <a:stretch>
            <a:fillRect/>
          </a:stretch>
        </p:blipFill>
        <p:spPr>
          <a:xfrm>
            <a:off x="838200" y="1676400"/>
            <a:ext cx="5284470" cy="3810000"/>
          </a:xfrm>
          <a:prstGeom prst="rect">
            <a:avLst/>
          </a:prstGeom>
        </p:spPr>
      </p:pic>
      <p:sp>
        <p:nvSpPr>
          <p:cNvPr id="4" name="TextBox 3"/>
          <p:cNvSpPr txBox="1"/>
          <p:nvPr/>
        </p:nvSpPr>
        <p:spPr>
          <a:xfrm>
            <a:off x="6400800" y="1676400"/>
            <a:ext cx="5105400" cy="4401205"/>
          </a:xfrm>
          <a:prstGeom prst="rect">
            <a:avLst/>
          </a:prstGeom>
          <a:noFill/>
        </p:spPr>
        <p:txBody>
          <a:bodyPr wrap="square" rtlCol="0">
            <a:spAutoFit/>
          </a:bodyPr>
          <a:lstStyle/>
          <a:p>
            <a:pPr lvl="0">
              <a:buFont typeface="Wingdings" pitchFamily="2" charset="2"/>
              <a:buChar char="Ø"/>
            </a:pPr>
            <a:r>
              <a:rPr lang="en-US" sz="2000" dirty="0" smtClean="0">
                <a:solidFill>
                  <a:schemeClr val="bg1"/>
                </a:solidFill>
              </a:rPr>
              <a:t> Sometimes it is being detected and mostly </a:t>
            </a:r>
          </a:p>
          <a:p>
            <a:pPr lvl="0"/>
            <a:r>
              <a:rPr lang="en-US" sz="2000" dirty="0" smtClean="0">
                <a:solidFill>
                  <a:schemeClr val="bg1"/>
                </a:solidFill>
              </a:rPr>
              <a:t>     its not detected. Sometimes it is detected </a:t>
            </a:r>
          </a:p>
          <a:p>
            <a:pPr lvl="0"/>
            <a:r>
              <a:rPr lang="en-US" sz="2000" dirty="0" smtClean="0">
                <a:solidFill>
                  <a:schemeClr val="bg1"/>
                </a:solidFill>
              </a:rPr>
              <a:t>     due to  eyes.</a:t>
            </a:r>
          </a:p>
          <a:p>
            <a:pPr marL="457200" lvl="0" indent="-457200"/>
            <a:endParaRPr lang="en-US" sz="2000" dirty="0" smtClean="0">
              <a:solidFill>
                <a:schemeClr val="bg1"/>
              </a:solidFill>
            </a:endParaRPr>
          </a:p>
          <a:p>
            <a:pPr marL="457200" lvl="0" indent="-457200">
              <a:buFont typeface="Wingdings" pitchFamily="2" charset="2"/>
              <a:buChar char="Ø"/>
            </a:pPr>
            <a:r>
              <a:rPr lang="en-US" sz="2000" dirty="0" smtClean="0">
                <a:solidFill>
                  <a:schemeClr val="bg1"/>
                </a:solidFill>
              </a:rPr>
              <a:t>Also identifies a person with mask.</a:t>
            </a:r>
          </a:p>
          <a:p>
            <a:endParaRPr lang="en-US" sz="2000" dirty="0" smtClean="0">
              <a:solidFill>
                <a:schemeClr val="bg1"/>
              </a:solidFill>
            </a:endParaRPr>
          </a:p>
          <a:p>
            <a:pPr lvl="0">
              <a:buFont typeface="Wingdings" pitchFamily="2" charset="2"/>
              <a:buChar char="Ø"/>
            </a:pPr>
            <a:r>
              <a:rPr lang="en-US" sz="2000" dirty="0" smtClean="0">
                <a:solidFill>
                  <a:schemeClr val="bg1"/>
                </a:solidFill>
              </a:rPr>
              <a:t>   If we show a picture of a person also it </a:t>
            </a:r>
          </a:p>
          <a:p>
            <a:pPr lvl="0"/>
            <a:r>
              <a:rPr lang="en-US" sz="2000" dirty="0" smtClean="0">
                <a:solidFill>
                  <a:schemeClr val="bg1"/>
                </a:solidFill>
              </a:rPr>
              <a:t>       identifies and starts recording.</a:t>
            </a:r>
          </a:p>
          <a:p>
            <a:endParaRPr lang="en-US" sz="2000" dirty="0" smtClean="0">
              <a:solidFill>
                <a:schemeClr val="bg1"/>
              </a:solidFill>
            </a:endParaRPr>
          </a:p>
          <a:p>
            <a:pPr lvl="0">
              <a:buFont typeface="Wingdings" pitchFamily="2" charset="2"/>
              <a:buChar char="Ø"/>
            </a:pPr>
            <a:r>
              <a:rPr lang="en-US" sz="2000" dirty="0" smtClean="0">
                <a:solidFill>
                  <a:schemeClr val="bg1"/>
                </a:solidFill>
              </a:rPr>
              <a:t>   Body detection is not so accurate.</a:t>
            </a:r>
          </a:p>
          <a:p>
            <a:endParaRPr lang="en-US" sz="2000" dirty="0" smtClean="0">
              <a:solidFill>
                <a:schemeClr val="bg1"/>
              </a:solidFill>
            </a:endParaRPr>
          </a:p>
          <a:p>
            <a:pPr lvl="0">
              <a:buFont typeface="Wingdings" pitchFamily="2" charset="2"/>
              <a:buChar char="Ø"/>
            </a:pPr>
            <a:r>
              <a:rPr lang="en-US" sz="2000" dirty="0" smtClean="0">
                <a:solidFill>
                  <a:schemeClr val="bg1"/>
                </a:solidFill>
              </a:rPr>
              <a:t>  Mostly cant detect animals , but in few    </a:t>
            </a:r>
          </a:p>
          <a:p>
            <a:pPr lvl="0"/>
            <a:r>
              <a:rPr lang="en-US" sz="2000" dirty="0" smtClean="0">
                <a:solidFill>
                  <a:schemeClr val="bg1"/>
                </a:solidFill>
              </a:rPr>
              <a:t>      cases  due to eyes it is detected as a human.</a:t>
            </a:r>
          </a:p>
          <a:p>
            <a:pPr>
              <a:buFont typeface="Wingdings" pitchFamily="2" charset="2"/>
              <a:buChar char="Ø"/>
            </a:pPr>
            <a:endParaRPr lang="en-US" sz="2000" dirty="0">
              <a:solidFill>
                <a:schemeClr val="bg1"/>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533400" y="1295400"/>
            <a:ext cx="5943600" cy="4865434"/>
          </a:xfrm>
          <a:prstGeom prst="rect">
            <a:avLst/>
          </a:prstGeom>
        </p:spPr>
        <p:txBody>
          <a:bodyPr vert="horz" wrap="square" lIns="0" tIns="12700" rIns="0" bIns="0" rtlCol="0">
            <a:spAutoFit/>
          </a:bodyPr>
          <a:lstStyle/>
          <a:p>
            <a:pPr marL="12700">
              <a:lnSpc>
                <a:spcPct val="100000"/>
              </a:lnSpc>
              <a:spcBef>
                <a:spcPts val="100"/>
              </a:spcBef>
              <a:tabLst>
                <a:tab pos="1384935" algn="l"/>
                <a:tab pos="1978025" algn="l"/>
                <a:tab pos="2740660" algn="l"/>
                <a:tab pos="3164205" algn="l"/>
                <a:tab pos="3672204" algn="l"/>
              </a:tabLst>
            </a:pPr>
            <a:endParaRPr lang="en-US" sz="2400" dirty="0" smtClean="0">
              <a:solidFill>
                <a:schemeClr val="bg1"/>
              </a:solidFill>
              <a:latin typeface="Arial MT"/>
              <a:cs typeface="Arial MT"/>
            </a:endParaRPr>
          </a:p>
          <a:p>
            <a:pPr marL="12700">
              <a:lnSpc>
                <a:spcPct val="100000"/>
              </a:lnSpc>
              <a:spcBef>
                <a:spcPts val="100"/>
              </a:spcBef>
              <a:buFont typeface="Wingdings" pitchFamily="2" charset="2"/>
              <a:buChar char="Ø"/>
              <a:tabLst>
                <a:tab pos="1384935" algn="l"/>
                <a:tab pos="1978025" algn="l"/>
                <a:tab pos="2740660" algn="l"/>
                <a:tab pos="3164205" algn="l"/>
                <a:tab pos="3672204" algn="l"/>
              </a:tabLst>
            </a:pPr>
            <a:r>
              <a:rPr lang="en-US" sz="2400" dirty="0" smtClean="0">
                <a:solidFill>
                  <a:schemeClr val="bg1"/>
                </a:solidFill>
                <a:cs typeface="Arial MT"/>
              </a:rPr>
              <a:t>Smart camera enable </a:t>
            </a:r>
            <a:r>
              <a:rPr lang="en-US" sz="2400" spc="-5" dirty="0" smtClean="0">
                <a:solidFill>
                  <a:schemeClr val="bg1"/>
                </a:solidFill>
                <a:cs typeface="Arial MT"/>
              </a:rPr>
              <a:t>t</a:t>
            </a:r>
            <a:r>
              <a:rPr lang="en-US" sz="2400" dirty="0" smtClean="0">
                <a:solidFill>
                  <a:schemeClr val="bg1"/>
                </a:solidFill>
                <a:cs typeface="Arial MT"/>
              </a:rPr>
              <a:t>he user  </a:t>
            </a:r>
            <a:r>
              <a:rPr lang="en-US" sz="2400" spc="-5" dirty="0" smtClean="0">
                <a:solidFill>
                  <a:schemeClr val="bg1"/>
                </a:solidFill>
                <a:cs typeface="Arial MT"/>
              </a:rPr>
              <a:t>t</a:t>
            </a:r>
            <a:r>
              <a:rPr lang="en-US" sz="2400" dirty="0" smtClean="0">
                <a:solidFill>
                  <a:schemeClr val="bg1"/>
                </a:solidFill>
                <a:cs typeface="Arial MT"/>
              </a:rPr>
              <a:t>o s</a:t>
            </a:r>
            <a:r>
              <a:rPr lang="en-US" sz="2400" spc="-5" dirty="0" smtClean="0">
                <a:solidFill>
                  <a:schemeClr val="bg1"/>
                </a:solidFill>
                <a:cs typeface="Arial MT"/>
              </a:rPr>
              <a:t>t</a:t>
            </a:r>
            <a:r>
              <a:rPr lang="en-US" sz="2400" dirty="0" smtClean="0">
                <a:solidFill>
                  <a:schemeClr val="bg1"/>
                </a:solidFill>
                <a:cs typeface="Arial MT"/>
              </a:rPr>
              <a:t>ore </a:t>
            </a:r>
            <a:r>
              <a:rPr lang="en-US" sz="2400" spc="-5" dirty="0" smtClean="0">
                <a:solidFill>
                  <a:schemeClr val="bg1"/>
                </a:solidFill>
                <a:cs typeface="Arial MT"/>
              </a:rPr>
              <a:t>t</a:t>
            </a:r>
            <a:r>
              <a:rPr lang="en-US" sz="2400" dirty="0" smtClean="0">
                <a:solidFill>
                  <a:schemeClr val="bg1"/>
                </a:solidFill>
                <a:cs typeface="Arial MT"/>
              </a:rPr>
              <a:t>he</a:t>
            </a:r>
          </a:p>
          <a:p>
            <a:pPr marL="12700">
              <a:lnSpc>
                <a:spcPct val="100000"/>
              </a:lnSpc>
              <a:spcBef>
                <a:spcPts val="100"/>
              </a:spcBef>
              <a:tabLst>
                <a:tab pos="1384935" algn="l"/>
                <a:tab pos="1978025" algn="l"/>
                <a:tab pos="2740660" algn="l"/>
                <a:tab pos="3164205" algn="l"/>
                <a:tab pos="3672204" algn="l"/>
              </a:tabLst>
            </a:pPr>
            <a:r>
              <a:rPr lang="en-US" sz="2400" dirty="0" smtClean="0">
                <a:solidFill>
                  <a:schemeClr val="bg1"/>
                </a:solidFill>
                <a:cs typeface="Arial MT"/>
              </a:rPr>
              <a:t>    video  which is </a:t>
            </a:r>
            <a:r>
              <a:rPr lang="en-US" sz="2400" spc="-20" dirty="0" smtClean="0">
                <a:solidFill>
                  <a:schemeClr val="bg1"/>
                </a:solidFill>
                <a:cs typeface="Arial MT"/>
              </a:rPr>
              <a:t>necessary.</a:t>
            </a:r>
          </a:p>
          <a:p>
            <a:pPr marL="12700">
              <a:lnSpc>
                <a:spcPct val="100000"/>
              </a:lnSpc>
              <a:spcBef>
                <a:spcPts val="100"/>
              </a:spcBef>
              <a:buFont typeface="Wingdings" pitchFamily="2" charset="2"/>
              <a:buChar char="Ø"/>
              <a:tabLst>
                <a:tab pos="1384935" algn="l"/>
                <a:tab pos="1978025" algn="l"/>
                <a:tab pos="2740660" algn="l"/>
                <a:tab pos="3164205" algn="l"/>
                <a:tab pos="3672204" algn="l"/>
              </a:tabLst>
            </a:pPr>
            <a:endParaRPr lang="en-US" sz="2400" spc="-20" dirty="0" smtClean="0">
              <a:solidFill>
                <a:schemeClr val="bg1"/>
              </a:solidFill>
              <a:cs typeface="Arial MT"/>
            </a:endParaRPr>
          </a:p>
          <a:p>
            <a:pPr marL="12700">
              <a:lnSpc>
                <a:spcPct val="100000"/>
              </a:lnSpc>
              <a:spcBef>
                <a:spcPts val="100"/>
              </a:spcBef>
              <a:buFont typeface="Wingdings" pitchFamily="2" charset="2"/>
              <a:buChar char="Ø"/>
              <a:tabLst>
                <a:tab pos="1384935" algn="l"/>
                <a:tab pos="1978025" algn="l"/>
                <a:tab pos="2740660" algn="l"/>
                <a:tab pos="3164205" algn="l"/>
                <a:tab pos="3672204" algn="l"/>
              </a:tabLst>
            </a:pPr>
            <a:r>
              <a:rPr sz="2400" smtClean="0">
                <a:solidFill>
                  <a:schemeClr val="bg1"/>
                </a:solidFill>
                <a:cs typeface="Arial MT"/>
              </a:rPr>
              <a:t>Reduces</a:t>
            </a:r>
            <a:r>
              <a:rPr sz="2400" dirty="0">
                <a:solidFill>
                  <a:schemeClr val="bg1"/>
                </a:solidFill>
                <a:cs typeface="Arial MT"/>
              </a:rPr>
              <a:t>	</a:t>
            </a:r>
            <a:r>
              <a:rPr sz="2400" spc="-5" dirty="0">
                <a:solidFill>
                  <a:schemeClr val="bg1"/>
                </a:solidFill>
                <a:cs typeface="Arial MT"/>
              </a:rPr>
              <a:t>the	data	to	</a:t>
            </a:r>
            <a:r>
              <a:rPr sz="2400" dirty="0">
                <a:solidFill>
                  <a:schemeClr val="bg1"/>
                </a:solidFill>
                <a:cs typeface="Arial MT"/>
              </a:rPr>
              <a:t>be	</a:t>
            </a:r>
            <a:r>
              <a:rPr sz="2400" spc="-5" dirty="0">
                <a:solidFill>
                  <a:schemeClr val="bg1"/>
                </a:solidFill>
                <a:cs typeface="Arial MT"/>
              </a:rPr>
              <a:t>stored.</a:t>
            </a:r>
            <a:endParaRPr sz="2400">
              <a:solidFill>
                <a:schemeClr val="bg1"/>
              </a:solidFill>
              <a:cs typeface="Arial MT"/>
            </a:endParaRPr>
          </a:p>
          <a:p>
            <a:pPr>
              <a:lnSpc>
                <a:spcPct val="100000"/>
              </a:lnSpc>
              <a:spcBef>
                <a:spcPts val="15"/>
              </a:spcBef>
              <a:buFont typeface="Wingdings" pitchFamily="2" charset="2"/>
              <a:buChar char="Ø"/>
            </a:pPr>
            <a:endParaRPr sz="2400">
              <a:solidFill>
                <a:schemeClr val="bg1"/>
              </a:solidFill>
              <a:cs typeface="Arial MT"/>
            </a:endParaRPr>
          </a:p>
          <a:p>
            <a:pPr marL="12700">
              <a:lnSpc>
                <a:spcPct val="100000"/>
              </a:lnSpc>
              <a:spcBef>
                <a:spcPts val="5"/>
              </a:spcBef>
              <a:buFont typeface="Wingdings" pitchFamily="2" charset="2"/>
              <a:buChar char="Ø"/>
              <a:tabLst>
                <a:tab pos="1452245" algn="l"/>
                <a:tab pos="3603625" algn="l"/>
              </a:tabLst>
            </a:pPr>
            <a:r>
              <a:rPr sz="2400" spc="-5" smtClean="0">
                <a:solidFill>
                  <a:schemeClr val="bg1"/>
                </a:solidFill>
                <a:cs typeface="Arial MT"/>
              </a:rPr>
              <a:t>Helpful</a:t>
            </a:r>
            <a:r>
              <a:rPr sz="2400" spc="10" smtClean="0">
                <a:solidFill>
                  <a:schemeClr val="bg1"/>
                </a:solidFill>
                <a:cs typeface="Arial MT"/>
              </a:rPr>
              <a:t> </a:t>
            </a:r>
            <a:r>
              <a:rPr sz="2400" smtClean="0">
                <a:solidFill>
                  <a:schemeClr val="bg1"/>
                </a:solidFill>
                <a:cs typeface="Arial MT"/>
              </a:rPr>
              <a:t>in	place of </a:t>
            </a:r>
            <a:r>
              <a:rPr sz="2400" spc="-5" smtClean="0">
                <a:solidFill>
                  <a:schemeClr val="bg1"/>
                </a:solidFill>
                <a:cs typeface="Arial MT"/>
              </a:rPr>
              <a:t>CCT</a:t>
            </a:r>
            <a:r>
              <a:rPr lang="en-US" sz="2400" spc="-5" dirty="0" smtClean="0">
                <a:solidFill>
                  <a:schemeClr val="bg1"/>
                </a:solidFill>
                <a:cs typeface="Arial MT"/>
              </a:rPr>
              <a:t>V </a:t>
            </a:r>
            <a:r>
              <a:rPr sz="2400" smtClean="0">
                <a:solidFill>
                  <a:schemeClr val="bg1"/>
                </a:solidFill>
                <a:cs typeface="Arial MT"/>
              </a:rPr>
              <a:t>and</a:t>
            </a:r>
            <a:r>
              <a:rPr sz="2400" spc="-20" smtClean="0">
                <a:solidFill>
                  <a:schemeClr val="bg1"/>
                </a:solidFill>
                <a:cs typeface="Arial MT"/>
              </a:rPr>
              <a:t> </a:t>
            </a:r>
            <a:r>
              <a:rPr sz="2400" smtClean="0">
                <a:solidFill>
                  <a:schemeClr val="bg1"/>
                </a:solidFill>
                <a:cs typeface="Arial MT"/>
              </a:rPr>
              <a:t>also</a:t>
            </a:r>
            <a:r>
              <a:rPr sz="2400" spc="-25" smtClean="0">
                <a:solidFill>
                  <a:schemeClr val="bg1"/>
                </a:solidFill>
                <a:cs typeface="Arial MT"/>
              </a:rPr>
              <a:t> </a:t>
            </a:r>
            <a:r>
              <a:rPr sz="2400" spc="-5" smtClean="0">
                <a:solidFill>
                  <a:schemeClr val="bg1"/>
                </a:solidFill>
                <a:cs typeface="Arial MT"/>
              </a:rPr>
              <a:t>for</a:t>
            </a:r>
            <a:r>
              <a:rPr sz="2400" spc="-25" smtClean="0">
                <a:solidFill>
                  <a:schemeClr val="bg1"/>
                </a:solidFill>
                <a:cs typeface="Arial MT"/>
              </a:rPr>
              <a:t> </a:t>
            </a:r>
            <a:endParaRPr lang="en-US" sz="2400" spc="-25" dirty="0" smtClean="0">
              <a:solidFill>
                <a:schemeClr val="bg1"/>
              </a:solidFill>
              <a:cs typeface="Arial MT"/>
            </a:endParaRPr>
          </a:p>
          <a:p>
            <a:pPr marL="12700">
              <a:lnSpc>
                <a:spcPct val="100000"/>
              </a:lnSpc>
              <a:spcBef>
                <a:spcPts val="5"/>
              </a:spcBef>
              <a:tabLst>
                <a:tab pos="1452245" algn="l"/>
                <a:tab pos="3603625" algn="l"/>
              </a:tabLst>
            </a:pPr>
            <a:r>
              <a:rPr lang="en-US" sz="2400" spc="-25" dirty="0" smtClean="0">
                <a:solidFill>
                  <a:schemeClr val="bg1"/>
                </a:solidFill>
                <a:cs typeface="Arial MT"/>
              </a:rPr>
              <a:t>     </a:t>
            </a:r>
            <a:r>
              <a:rPr sz="2400" smtClean="0">
                <a:solidFill>
                  <a:schemeClr val="bg1"/>
                </a:solidFill>
                <a:cs typeface="Arial MT"/>
              </a:rPr>
              <a:t>personal</a:t>
            </a:r>
            <a:r>
              <a:rPr sz="2400" spc="-20" smtClean="0">
                <a:solidFill>
                  <a:schemeClr val="bg1"/>
                </a:solidFill>
                <a:cs typeface="Arial MT"/>
              </a:rPr>
              <a:t> </a:t>
            </a:r>
            <a:r>
              <a:rPr sz="2400" smtClean="0">
                <a:solidFill>
                  <a:schemeClr val="bg1"/>
                </a:solidFill>
                <a:cs typeface="Arial MT"/>
              </a:rPr>
              <a:t>us</a:t>
            </a:r>
            <a:r>
              <a:rPr lang="en-US" sz="2400" dirty="0" smtClean="0">
                <a:solidFill>
                  <a:schemeClr val="bg1"/>
                </a:solidFill>
                <a:cs typeface="Arial MT"/>
              </a:rPr>
              <a:t>e</a:t>
            </a:r>
          </a:p>
          <a:p>
            <a:pPr marL="12700">
              <a:lnSpc>
                <a:spcPct val="100000"/>
              </a:lnSpc>
              <a:spcBef>
                <a:spcPts val="5"/>
              </a:spcBef>
              <a:buFont typeface="Wingdings" pitchFamily="2" charset="2"/>
              <a:buChar char="Ø"/>
              <a:tabLst>
                <a:tab pos="1452245" algn="l"/>
                <a:tab pos="3603625" algn="l"/>
              </a:tabLst>
            </a:pPr>
            <a:endParaRPr lang="en-US" sz="2400" dirty="0" smtClean="0">
              <a:solidFill>
                <a:schemeClr val="bg1"/>
              </a:solidFill>
            </a:endParaRPr>
          </a:p>
          <a:p>
            <a:pPr marL="12700">
              <a:lnSpc>
                <a:spcPct val="100000"/>
              </a:lnSpc>
              <a:spcBef>
                <a:spcPts val="5"/>
              </a:spcBef>
              <a:buFont typeface="Wingdings" pitchFamily="2" charset="2"/>
              <a:buChar char="Ø"/>
              <a:tabLst>
                <a:tab pos="1452245" algn="l"/>
                <a:tab pos="3603625" algn="l"/>
              </a:tabLst>
            </a:pPr>
            <a:r>
              <a:rPr lang="en-US" sz="2400" dirty="0" smtClean="0">
                <a:solidFill>
                  <a:schemeClr val="bg1"/>
                </a:solidFill>
              </a:rPr>
              <a:t>we can increase </a:t>
            </a:r>
            <a:r>
              <a:rPr lang="en-US" sz="2400" spc="-5" dirty="0" smtClean="0">
                <a:solidFill>
                  <a:schemeClr val="bg1"/>
                </a:solidFill>
              </a:rPr>
              <a:t>the</a:t>
            </a:r>
            <a:r>
              <a:rPr lang="en-US" sz="2400" dirty="0" smtClean="0">
                <a:solidFill>
                  <a:schemeClr val="bg1"/>
                </a:solidFill>
              </a:rPr>
              <a:t> surveillance </a:t>
            </a:r>
            <a:r>
              <a:rPr lang="en-US" sz="2400" spc="-5" dirty="0" smtClean="0">
                <a:solidFill>
                  <a:schemeClr val="bg1"/>
                </a:solidFill>
              </a:rPr>
              <a:t>system at </a:t>
            </a:r>
            <a:r>
              <a:rPr lang="en-US" sz="2400" dirty="0" smtClean="0">
                <a:solidFill>
                  <a:schemeClr val="bg1"/>
                </a:solidFill>
              </a:rPr>
              <a:t>a     </a:t>
            </a:r>
          </a:p>
          <a:p>
            <a:pPr marL="12700">
              <a:lnSpc>
                <a:spcPct val="100000"/>
              </a:lnSpc>
              <a:spcBef>
                <a:spcPts val="5"/>
              </a:spcBef>
              <a:tabLst>
                <a:tab pos="1452245" algn="l"/>
                <a:tab pos="3603625" algn="l"/>
              </a:tabLst>
            </a:pPr>
            <a:r>
              <a:rPr lang="en-US" sz="2400" dirty="0" smtClean="0">
                <a:solidFill>
                  <a:schemeClr val="bg1"/>
                </a:solidFill>
              </a:rPr>
              <a:t>    very</a:t>
            </a:r>
            <a:r>
              <a:rPr lang="en-US" sz="2400" spc="-15" dirty="0" smtClean="0">
                <a:solidFill>
                  <a:schemeClr val="bg1"/>
                </a:solidFill>
              </a:rPr>
              <a:t> </a:t>
            </a:r>
            <a:r>
              <a:rPr lang="en-US" sz="2400" dirty="0" smtClean="0">
                <a:solidFill>
                  <a:schemeClr val="bg1"/>
                </a:solidFill>
              </a:rPr>
              <a:t>low</a:t>
            </a:r>
            <a:r>
              <a:rPr lang="en-US" sz="2400" spc="-5" dirty="0" smtClean="0">
                <a:solidFill>
                  <a:schemeClr val="bg1"/>
                </a:solidFill>
              </a:rPr>
              <a:t> </a:t>
            </a:r>
            <a:r>
              <a:rPr lang="en-US" sz="2400" dirty="0" smtClean="0">
                <a:solidFill>
                  <a:schemeClr val="bg1"/>
                </a:solidFill>
              </a:rPr>
              <a:t>cost</a:t>
            </a:r>
            <a:r>
              <a:rPr lang="en-US" sz="2400" spc="-10" dirty="0" smtClean="0">
                <a:solidFill>
                  <a:schemeClr val="bg1"/>
                </a:solidFill>
              </a:rPr>
              <a:t> </a:t>
            </a:r>
            <a:r>
              <a:rPr lang="en-US" sz="2400" dirty="0" smtClean="0">
                <a:solidFill>
                  <a:schemeClr val="bg1"/>
                </a:solidFill>
              </a:rPr>
              <a:t>and</a:t>
            </a:r>
            <a:r>
              <a:rPr lang="en-US" sz="2400" spc="-5" dirty="0" smtClean="0">
                <a:solidFill>
                  <a:schemeClr val="bg1"/>
                </a:solidFill>
              </a:rPr>
              <a:t> </a:t>
            </a:r>
            <a:r>
              <a:rPr lang="en-US" sz="2400" dirty="0" smtClean="0">
                <a:solidFill>
                  <a:schemeClr val="bg1"/>
                </a:solidFill>
              </a:rPr>
              <a:t>easy</a:t>
            </a:r>
            <a:r>
              <a:rPr lang="en-US" sz="2400" spc="-10" dirty="0" smtClean="0">
                <a:solidFill>
                  <a:schemeClr val="bg1"/>
                </a:solidFill>
              </a:rPr>
              <a:t> </a:t>
            </a:r>
            <a:r>
              <a:rPr lang="en-US" sz="2400" spc="-5" dirty="0" smtClean="0">
                <a:solidFill>
                  <a:schemeClr val="bg1"/>
                </a:solidFill>
              </a:rPr>
              <a:t>implementation.</a:t>
            </a:r>
          </a:p>
          <a:p>
            <a:pPr marL="12700">
              <a:lnSpc>
                <a:spcPct val="100000"/>
              </a:lnSpc>
              <a:spcBef>
                <a:spcPts val="5"/>
              </a:spcBef>
              <a:buFont typeface="Arial" pitchFamily="34" charset="0"/>
              <a:buChar char="•"/>
              <a:tabLst>
                <a:tab pos="1452245" algn="l"/>
                <a:tab pos="3603625" algn="l"/>
              </a:tabLst>
            </a:pPr>
            <a:endParaRPr lang="en-US" sz="2400" spc="-5" dirty="0" smtClean="0">
              <a:solidFill>
                <a:schemeClr val="bg1"/>
              </a:solidFill>
            </a:endParaRPr>
          </a:p>
          <a:p>
            <a:pPr marL="12700">
              <a:lnSpc>
                <a:spcPct val="100000"/>
              </a:lnSpc>
              <a:spcBef>
                <a:spcPts val="5"/>
              </a:spcBef>
              <a:tabLst>
                <a:tab pos="1452245" algn="l"/>
                <a:tab pos="3603625" algn="l"/>
              </a:tabLst>
            </a:pPr>
            <a:endParaRPr sz="2400">
              <a:solidFill>
                <a:schemeClr val="bg1"/>
              </a:solidFill>
              <a:latin typeface="Arial MT"/>
              <a:cs typeface="Arial MT"/>
            </a:endParaRPr>
          </a:p>
        </p:txBody>
      </p:sp>
      <p:sp>
        <p:nvSpPr>
          <p:cNvPr id="6" name="object 6"/>
          <p:cNvSpPr txBox="1">
            <a:spLocks noGrp="1"/>
          </p:cNvSpPr>
          <p:nvPr>
            <p:ph type="title"/>
          </p:nvPr>
        </p:nvSpPr>
        <p:spPr>
          <a:xfrm>
            <a:off x="914400" y="381000"/>
            <a:ext cx="8535035" cy="566822"/>
          </a:xfrm>
          <a:prstGeom prst="rect">
            <a:avLst/>
          </a:prstGeom>
        </p:spPr>
        <p:txBody>
          <a:bodyPr vert="horz" wrap="square" lIns="0" tIns="12700" rIns="0" bIns="0" rtlCol="0">
            <a:spAutoFit/>
          </a:bodyPr>
          <a:lstStyle/>
          <a:p>
            <a:pPr marL="415290">
              <a:lnSpc>
                <a:spcPct val="100000"/>
              </a:lnSpc>
              <a:spcBef>
                <a:spcPts val="100"/>
              </a:spcBef>
            </a:pPr>
            <a:r>
              <a:rPr lang="en-US" sz="3600" dirty="0" smtClean="0">
                <a:solidFill>
                  <a:schemeClr val="bg1"/>
                </a:solidFill>
                <a:latin typeface="Artifakt Element Black" pitchFamily="34" charset="0"/>
                <a:ea typeface="Artifakt Element Black" pitchFamily="34" charset="0"/>
                <a:cs typeface="Times New Roman" panose="02020603050405020304" pitchFamily="18" charset="0"/>
              </a:rPr>
              <a:t>Conclusion and Future Scope</a:t>
            </a:r>
            <a:endParaRPr lang="en-US" sz="3600" dirty="0">
              <a:solidFill>
                <a:schemeClr val="bg1"/>
              </a:solidFill>
              <a:latin typeface="Artifakt Element Black" pitchFamily="34" charset="0"/>
              <a:ea typeface="Artifakt Element Black"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914400"/>
            <a:ext cx="3140709" cy="484748"/>
          </a:xfrm>
        </p:spPr>
        <p:txBody>
          <a:bodyPr/>
          <a:lstStyle/>
          <a:p>
            <a:r>
              <a:rPr lang="en-US" dirty="0" smtClean="0">
                <a:solidFill>
                  <a:schemeClr val="bg1">
                    <a:lumMod val="95000"/>
                  </a:schemeClr>
                </a:solidFill>
              </a:rPr>
              <a:t>REFERENCES</a:t>
            </a:r>
            <a:endParaRPr lang="en-US" dirty="0">
              <a:solidFill>
                <a:schemeClr val="bg1">
                  <a:lumMod val="95000"/>
                </a:schemeClr>
              </a:solidFill>
            </a:endParaRPr>
          </a:p>
        </p:txBody>
      </p:sp>
      <p:sp>
        <p:nvSpPr>
          <p:cNvPr id="5" name="Rectangle 4"/>
          <p:cNvSpPr/>
          <p:nvPr/>
        </p:nvSpPr>
        <p:spPr>
          <a:xfrm>
            <a:off x="457200" y="457200"/>
            <a:ext cx="11201400" cy="5943600"/>
          </a:xfrm>
          <a:prstGeom prst="rect">
            <a:avLst/>
          </a:prstGeom>
          <a:solidFill>
            <a:schemeClr val="tx2">
              <a:lumMod val="50000"/>
            </a:schemeClr>
          </a:solidFill>
          <a:ln>
            <a:no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itchFamily="2" charset="2"/>
              <a:buChar char="Ø"/>
            </a:pPr>
            <a:endParaRPr lang="en-US" dirty="0" smtClean="0">
              <a:solidFill>
                <a:schemeClr val="tx2">
                  <a:lumMod val="60000"/>
                  <a:lumOff val="40000"/>
                </a:schemeClr>
              </a:solidFill>
            </a:endParaRPr>
          </a:p>
          <a:p>
            <a:pPr>
              <a:buFont typeface="Wingdings" pitchFamily="2" charset="2"/>
              <a:buChar char="Ø"/>
            </a:pPr>
            <a:endParaRPr lang="en-US" dirty="0" smtClean="0">
              <a:solidFill>
                <a:schemeClr val="tx2">
                  <a:lumMod val="60000"/>
                  <a:lumOff val="40000"/>
                </a:schemeClr>
              </a:solidFill>
            </a:endParaRPr>
          </a:p>
          <a:p>
            <a:pPr>
              <a:buFont typeface="Wingdings" pitchFamily="2" charset="2"/>
              <a:buChar char="Ø"/>
            </a:pPr>
            <a:endParaRPr lang="en-US" dirty="0" smtClean="0">
              <a:solidFill>
                <a:schemeClr val="tx2">
                  <a:lumMod val="60000"/>
                  <a:lumOff val="40000"/>
                </a:schemeClr>
              </a:solidFill>
            </a:endParaRPr>
          </a:p>
          <a:p>
            <a:pPr>
              <a:buFont typeface="Wingdings" pitchFamily="2" charset="2"/>
              <a:buChar char="Ø"/>
            </a:pPr>
            <a:endParaRPr lang="en-US" dirty="0" smtClean="0">
              <a:solidFill>
                <a:schemeClr val="tx2">
                  <a:lumMod val="60000"/>
                  <a:lumOff val="40000"/>
                </a:schemeClr>
              </a:solidFill>
            </a:endParaRPr>
          </a:p>
          <a:p>
            <a:pPr>
              <a:buFont typeface="Wingdings" pitchFamily="2" charset="2"/>
              <a:buChar char="Ø"/>
            </a:pPr>
            <a:endParaRPr lang="en-US" dirty="0" smtClean="0">
              <a:solidFill>
                <a:schemeClr val="tx2">
                  <a:lumMod val="60000"/>
                  <a:lumOff val="40000"/>
                </a:schemeClr>
              </a:solidFill>
            </a:endParaRPr>
          </a:p>
          <a:p>
            <a:endParaRPr lang="en-US" dirty="0" smtClean="0">
              <a:solidFill>
                <a:schemeClr val="tx2">
                  <a:lumMod val="60000"/>
                  <a:lumOff val="40000"/>
                </a:schemeClr>
              </a:solidFill>
            </a:endParaRPr>
          </a:p>
          <a:p>
            <a:pPr>
              <a:buFont typeface="Wingdings" pitchFamily="2" charset="2"/>
              <a:buChar char="Ø"/>
            </a:pPr>
            <a:r>
              <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hlinkClick r:id="rId2"/>
              </a:rPr>
              <a:t>https://www.bing.com/ck/a?!&amp;&amp;p=824d1e70362fef1fJmltdHM9MTcxNDA4OTYwMCZpZ3VpZD0wNGI1OWY+using+smart+camera&amp;u=a1aHR0cHM6Ly9pZWVleHBsb3JlLmllZWUub3JnL2RvY3VtZW50LzYwNDI5MjQv&amp;ntb=1</a:t>
            </a:r>
            <a:endPar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buFont typeface="Wingdings" pitchFamily="2" charset="2"/>
              <a:buChar char="Ø"/>
            </a:pPr>
            <a:endParaRPr lang="en-US" dirty="0"/>
          </a:p>
        </p:txBody>
      </p:sp>
      <p:sp>
        <p:nvSpPr>
          <p:cNvPr id="6" name="Rectangle 5"/>
          <p:cNvSpPr/>
          <p:nvPr/>
        </p:nvSpPr>
        <p:spPr>
          <a:xfrm>
            <a:off x="533400" y="2590800"/>
            <a:ext cx="10744200" cy="646331"/>
          </a:xfrm>
          <a:prstGeom prst="rect">
            <a:avLst/>
          </a:prstGeom>
          <a:noFill/>
        </p:spPr>
        <p:txBody>
          <a:bodyPr wrap="square" lIns="91440" tIns="45720" rIns="91440" bIns="45720">
            <a:spAutoFit/>
          </a:bodyPr>
          <a:lstStyle/>
          <a:p>
            <a:pPr>
              <a:buFont typeface="Wingdings" pitchFamily="2" charset="2"/>
              <a:buChar char="Ø"/>
            </a:pPr>
            <a:r>
              <a:rPr lang="en-US"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hlinkClick r:id="rId3"/>
              </a:rPr>
              <a:t>https://www.bing.com/ck/a?!&amp;&amp;p=b5cfeac55938f889JmltdHM9MTcxNDA4  O</a:t>
            </a:r>
            <a:r>
              <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hlinkClick r:id="rId3"/>
              </a:rPr>
              <a:t>TYwMCZ</a:t>
            </a:r>
            <a:r>
              <a:rPr lang="en-US"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hlinkClick r:id="rId3"/>
              </a:rPr>
              <a:t>pZ3VpZD0wNGI1OWY0My1mMDQ4LTYwY</a:t>
            </a:r>
            <a:endParaRPr lang="en-US"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7" name="TextBox 6"/>
          <p:cNvSpPr txBox="1"/>
          <p:nvPr/>
        </p:nvSpPr>
        <p:spPr>
          <a:xfrm>
            <a:off x="1447800" y="1143000"/>
            <a:ext cx="4648200" cy="769441"/>
          </a:xfrm>
          <a:prstGeom prst="rect">
            <a:avLst/>
          </a:prstGeom>
          <a:noFill/>
        </p:spPr>
        <p:txBody>
          <a:bodyPr wrap="square" rtlCol="0">
            <a:spAutoFit/>
          </a:bodyPr>
          <a:lstStyle/>
          <a:p>
            <a:r>
              <a:rPr lang="en-US" sz="4400" dirty="0" smtClean="0">
                <a:solidFill>
                  <a:schemeClr val="bg1">
                    <a:lumMod val="95000"/>
                  </a:schemeClr>
                </a:solidFill>
                <a:latin typeface="Artifakt Element Black" pitchFamily="34" charset="0"/>
                <a:ea typeface="Artifakt Element Black" pitchFamily="34" charset="0"/>
              </a:rPr>
              <a:t>REFERENCES</a:t>
            </a:r>
            <a:endParaRPr lang="en-US" sz="4400" dirty="0">
              <a:solidFill>
                <a:schemeClr val="bg1">
                  <a:lumMod val="95000"/>
                </a:schemeClr>
              </a:solidFill>
              <a:latin typeface="Artifakt Element Black" pitchFamily="34" charset="0"/>
              <a:ea typeface="Artifakt Element Black" pitchFamily="34" charset="0"/>
            </a:endParaRPr>
          </a:p>
        </p:txBody>
      </p:sp>
      <p:sp>
        <p:nvSpPr>
          <p:cNvPr id="8" name="TextBox 7"/>
          <p:cNvSpPr txBox="1"/>
          <p:nvPr/>
        </p:nvSpPr>
        <p:spPr>
          <a:xfrm>
            <a:off x="457200" y="5181600"/>
            <a:ext cx="10668000" cy="646331"/>
          </a:xfrm>
          <a:prstGeom prst="rect">
            <a:avLst/>
          </a:prstGeom>
          <a:noFill/>
        </p:spPr>
        <p:txBody>
          <a:bodyPr wrap="square" rtlCol="0">
            <a:spAutoFit/>
          </a:bodyPr>
          <a:lstStyle/>
          <a:p>
            <a:pPr>
              <a:buFont typeface="Wingdings" pitchFamily="2" charset="2"/>
              <a:buChar char="Ø"/>
            </a:pPr>
            <a:r>
              <a:rPr lang="en-US" u="sng" dirty="0" smtClean="0">
                <a:ln>
                  <a:solidFill>
                    <a:schemeClr val="bg1"/>
                  </a:solidFill>
                </a:ln>
                <a:solidFill>
                  <a:schemeClr val="tx2"/>
                </a:solidFill>
              </a:rPr>
              <a:t>https://ieeexplore.ieee.org/search/searchresult.jsp?newsearch=true&amp;queryText=human%20detection%20using%20smart%20camera</a:t>
            </a:r>
            <a:endParaRPr lang="en-US" u="sng" dirty="0">
              <a:ln>
                <a:solidFill>
                  <a:schemeClr val="bg1"/>
                </a:solidFill>
              </a:ln>
              <a:solidFill>
                <a:schemeClr val="tx2"/>
              </a:solidFill>
            </a:endParaRPr>
          </a:p>
        </p:txBody>
      </p:sp>
    </p:spTree>
  </p:cSld>
  <p:clrMapOvr>
    <a:masterClrMapping/>
  </p:clrMapOvr>
  <p:transition>
    <p:pull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743200"/>
            <a:ext cx="4277360" cy="939800"/>
          </a:xfrm>
          <a:prstGeom prst="rect">
            <a:avLst/>
          </a:prstGeom>
        </p:spPr>
        <p:txBody>
          <a:bodyPr vert="horz" wrap="square" lIns="0" tIns="12700" rIns="0" bIns="0" rtlCol="0">
            <a:spAutoFit/>
          </a:bodyPr>
          <a:lstStyle/>
          <a:p>
            <a:pPr marL="12700">
              <a:lnSpc>
                <a:spcPct val="100000"/>
              </a:lnSpc>
              <a:spcBef>
                <a:spcPts val="100"/>
              </a:spcBef>
            </a:pPr>
            <a:r>
              <a:rPr sz="6000" spc="-395" dirty="0">
                <a:solidFill>
                  <a:schemeClr val="bg1"/>
                </a:solidFill>
              </a:rPr>
              <a:t>THANK</a:t>
            </a:r>
            <a:r>
              <a:rPr sz="6000" spc="-80" dirty="0">
                <a:solidFill>
                  <a:schemeClr val="bg1"/>
                </a:solidFill>
              </a:rPr>
              <a:t> </a:t>
            </a:r>
            <a:r>
              <a:rPr sz="6000" spc="-165" dirty="0">
                <a:solidFill>
                  <a:schemeClr val="bg1"/>
                </a:solidFill>
              </a:rPr>
              <a:t>YOU</a:t>
            </a:r>
            <a:endParaRPr sz="6000">
              <a:solidFill>
                <a:schemeClr val="bg1"/>
              </a:solidFill>
            </a:endParaRPr>
          </a:p>
        </p:txBody>
      </p:sp>
    </p:spTree>
  </p:cSld>
  <p:clrMapOvr>
    <a:masterClrMapping/>
  </p:clrMapOvr>
  <p:transition>
    <p:pull dir="d"/>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788</TotalTime>
  <Words>835</Words>
  <Application>Microsoft Office PowerPoint</Application>
  <PresentationFormat>Custom</PresentationFormat>
  <Paragraphs>127</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HUMAN   DETECTION  USING SMART CAMERA </vt:lpstr>
      <vt:lpstr>CONTENTS:</vt:lpstr>
      <vt:lpstr>Slide 3</vt:lpstr>
      <vt:lpstr>EXISTING   SYSTEM</vt:lpstr>
      <vt:lpstr>Slide 5</vt:lpstr>
      <vt:lpstr>Slide 6</vt:lpstr>
      <vt:lpstr>PROPOSED SYSTEM</vt:lpstr>
      <vt:lpstr>Slide 8</vt:lpstr>
      <vt:lpstr>Slide 9</vt:lpstr>
      <vt:lpstr>REQUIREMENTS</vt:lpstr>
      <vt:lpstr>Slide 11</vt:lpstr>
      <vt:lpstr>Slide 12</vt:lpstr>
      <vt:lpstr>Slide 13</vt:lpstr>
      <vt:lpstr>Slide 14</vt:lpstr>
      <vt:lpstr>Slide 15</vt:lpstr>
      <vt:lpstr>Slide 16</vt:lpstr>
      <vt:lpstr>Slide 17</vt:lpstr>
      <vt:lpstr>Conclusion and Future Scope</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Mini_Project Smart Camera(FN)</dc:title>
  <dc:creator>student</dc:creator>
  <cp:lastModifiedBy>admin</cp:lastModifiedBy>
  <cp:revision>16</cp:revision>
  <dcterms:created xsi:type="dcterms:W3CDTF">2024-04-22T05:07:10Z</dcterms:created>
  <dcterms:modified xsi:type="dcterms:W3CDTF">2024-07-10T04:23:44Z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2023-07-31T00:00:00Z</vt:filetime>
  </property>
  <property fmtid="{D5CDD505-2E9C-101B-9397-08002B2CF9AE}" pid="3" name="Creator">
    <vt:lpwstr>Keynote</vt:lpwstr>
  </property>
  <property fmtid="{D5CDD505-2E9C-101B-9397-08002B2CF9AE}" pid="4" name="LastSaved">
    <vt:filetime>2024-04-22T00:00:00Z</vt:filetime>
  </property>
</Properties>
</file>